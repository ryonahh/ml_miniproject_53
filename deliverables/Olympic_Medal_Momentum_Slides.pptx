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1.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4.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5.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12b5dc41-7222-9d0e-f0b3-78748c1d72e6}">
          <p14:sldIdLst>
            <p14:sldId id="256"/>
            <p14:sldId id="257"/>
          </p14:sldIdLst>
        </p14:section>
        <p14:section name="Data and method" id="{43f382e0-772b-6274-545e-4ac914da8b4c}">
          <p14:sldIdLst>
            <p14:sldId id="258"/>
            <p14:sldId id="259"/>
            <p14:sldId id="260"/>
            <p14:sldId id="261"/>
          </p14:sldIdLst>
        </p14:section>
        <p14:section name="Novelty" id="{c7ab8d55-6342-9713-661f-af745313a0f4}">
          <p14:sldIdLst>
            <p14:sldId id="262"/>
            <p14:sldId id="263"/>
          </p14:sldIdLst>
        </p14:section>
        <p14:section name="Results" id="{6a0d89e2-90bc-8fa8-544f-ed971772c9c5}">
          <p14:sldIdLst>
            <p14:sldId id="264"/>
            <p14:sldId id="265"/>
            <p14:sldId id="266"/>
            <p14:sldId id="267"/>
            <p14:sldId id="268"/>
          </p14:sldIdLst>
        </p14:section>
        <p14:section name="Conclusion" id="{af2bb3c6-bb71-4985-7f5c-f6121afb754a}">
          <p14:sldIdLst>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A5872"/>
                </a:solidFill>
                <a:latin typeface="+mn-lt"/>
              </a:defRPr>
            </a:pPr>
            <a:r>
              <a:rPr sz="1300" b="0" i="0" u="none" strike="noStrike">
                <a:solidFill>
                  <a:srgbClr val="4A5872"/>
                </a:solidFill>
                <a:latin typeface="+mn-lt"/>
              </a:rPr>
              <a:t>Mean absolute error, medals per country (lower is better)</a:t>
            </a:r>
          </a:p>
        </c:rich>
      </c:tx>
      <c:layout/>
      <c:overlay val="0"/>
    </c:title>
    <c:autoTitleDeleted val="0"/>
    <c:plotArea>
      <c:layout/>
      <c:barChart>
        <c:barDir val="bar"/>
        <c:grouping val="clustered"/>
        <c:varyColors val="0"/>
        <c:ser>
          <c:idx val="0"/>
          <c:order val="0"/>
          <c:tx>
            <c:strRef>
              <c:f>Sheet1!$B$1</c:f>
              <c:strCache>
                <c:ptCount val="1"/>
                <c:pt idx="0">
                  <c:v>MAE</c:v>
                </c:pt>
              </c:strCache>
            </c:strRef>
          </c:tx>
          <c:spPr>
            <a:solidFill>
              <a:srgbClr val="A86A3D"/>
            </a:solidFill>
            <a:effectLst/>
          </c:spPr>
          <c:invertIfNegative val="0"/>
          <c:dLbls>
            <c:numFmt formatCode="0.000" sourceLinked="0"/>
            <c:txPr>
              <a:bodyPr/>
              <a:lstStyle/>
              <a:p>
                <a:pPr>
                  <a:defRPr b="0" i="0" strike="noStrike" sz="1300" u="none">
                    <a:solidFill>
                      <a:srgbClr val="13223A"/>
                    </a:solidFill>
                    <a:latin typeface="+mn-lt"/>
                  </a:defRPr>
                </a:pPr>
              </a:p>
            </c:txPr>
            <c:showLegendKey val="0"/>
            <c:showVal val="1"/>
            <c:showCatName val="0"/>
            <c:showSerName val="0"/>
            <c:showPercent val="0"/>
            <c:showBubbleSize val="0"/>
            <c:showLeaderLines val="0"/>
          </c:dLbls>
          <c:dPt>
            <c:idx val="0"/>
            <c:invertIfNegative val="0"/>
            <c:bubble3D val="0"/>
            <c:spPr>
              <a:solidFill>
                <a:srgbClr val="A86A3D"/>
              </a:solidFill>
              <a:effectLst/>
            </c:spPr>
          </c:dPt>
          <c:dPt>
            <c:idx val="1"/>
            <c:invertIfNegative val="0"/>
            <c:bubble3D val="0"/>
            <c:spPr>
              <a:solidFill>
                <a:srgbClr val="C4CAD4"/>
              </a:solidFill>
              <a:effectLst/>
            </c:spPr>
          </c:dPt>
          <c:dPt>
            <c:idx val="2"/>
            <c:invertIfNegative val="0"/>
            <c:bubble3D val="0"/>
            <c:spPr>
              <a:solidFill>
                <a:srgbClr val="8F99A9"/>
              </a:solidFill>
              <a:effectLst/>
            </c:spPr>
          </c:dPt>
          <c:dPt>
            <c:idx val="3"/>
            <c:invertIfNegative val="0"/>
            <c:bubble3D val="0"/>
            <c:spPr>
              <a:solidFill>
                <a:srgbClr val="C4CAD4"/>
              </a:solidFill>
              <a:effectLst/>
            </c:spPr>
          </c:dPt>
          <c:dPt>
            <c:idx val="4"/>
            <c:invertIfNegative val="0"/>
            <c:bubble3D val="0"/>
            <c:spPr>
              <a:solidFill>
                <a:srgbClr val="C4CAD4"/>
              </a:solidFill>
              <a:effectLst/>
            </c:spPr>
          </c:dPt>
          <c:dPt>
            <c:idx val="5"/>
            <c:invertIfNegative val="0"/>
            <c:bubble3D val="0"/>
            <c:spPr>
              <a:solidFill>
                <a:srgbClr val="C4CAD4"/>
              </a:solidFill>
              <a:effectLst/>
            </c:spPr>
          </c:dPt>
          <c:dPt>
            <c:idx val="6"/>
            <c:invertIfNegative val="0"/>
            <c:bubble3D val="0"/>
            <c:spPr>
              <a:solidFill>
                <a:srgbClr val="C8962E"/>
              </a:solidFill>
              <a:effectLst/>
            </c:spPr>
          </c:dPt>
          <c:dPt>
            <c:idx val="7"/>
            <c:invertIfNegative val="0"/>
            <c:bubble3D val="0"/>
            <c:spPr>
              <a:solidFill>
                <a:srgbClr val="C4CAD4"/>
              </a:solidFill>
              <a:effectLst/>
            </c:spPr>
          </c:dPt>
          <c:cat>
            <c:multiLvlStrRef>
              <c:f>Sheet1!$A$2:$A$9</c:f>
              <c:multiLvlStrCache>
                <c:ptCount val="8"/>
                <c:lvl>
                  <c:pt idx="0">
                    <c:v>Baseline</c:v>
                  </c:pt>
                  <c:pt idx="1">
                    <c:v>Historical + Momentum Score</c:v>
                  </c:pt>
                  <c:pt idx="2">
                    <c:v>Historical Features</c:v>
                  </c:pt>
                  <c:pt idx="3">
                    <c:v>Historical + Economic</c:v>
                  </c:pt>
                  <c:pt idx="4">
                    <c:v>Paper Two-Stage</c:v>
                  </c:pt>
                  <c:pt idx="5">
                    <c:v>Momentum Target + Economic</c:v>
                  </c:pt>
                  <c:pt idx="6">
                    <c:v>Momentum Target</c:v>
                  </c:pt>
                  <c:pt idx="7">
                    <c:v>Momentum Target + Score</c:v>
                  </c:pt>
                </c:lvl>
              </c:multiLvlStrCache>
            </c:multiLvlStrRef>
          </c:cat>
          <c:val>
            <c:numRef>
              <c:f>Sheet1!$B$2:$B$9</c:f>
              <c:numCache>
                <c:formatCode>General</c:formatCode>
                <c:ptCount val="8"/>
                <c:pt idx="0">
                  <c:v>1.606</c:v>
                </c:pt>
                <c:pt idx="1">
                  <c:v>1.501</c:v>
                </c:pt>
                <c:pt idx="2">
                  <c:v>1.474</c:v>
                </c:pt>
                <c:pt idx="3">
                  <c:v>1.461</c:v>
                </c:pt>
                <c:pt idx="4">
                  <c:v>1.442</c:v>
                </c:pt>
                <c:pt idx="5">
                  <c:v>1.307</c:v>
                </c:pt>
                <c:pt idx="6">
                  <c:v>1.298</c:v>
                </c:pt>
                <c:pt idx="7">
                  <c:v>1.296</c:v>
                </c:pt>
              </c:numCache>
            </c:numRef>
          </c:val>
        </c:ser>
        <c:dLbls>
          <c:numFmt formatCode="0.000" sourceLinked="0"/>
          <c:txPr>
            <a:bodyPr/>
            <a:lstStyle/>
            <a:p>
              <a:pPr>
                <a:defRPr b="0" i="0" strike="noStrike" sz="1300" u="none">
                  <a:solidFill>
                    <a:srgbClr val="13223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3223A"/>
                </a:solidFill>
                <a:latin typeface="+mn-lt"/>
              </a:defRPr>
            </a:pPr>
            <a:endParaRPr lang="en-US"/>
          </a:p>
        </c:txPr>
        <c:crossAx val="2094734552"/>
        <c:crosses val="autoZero"/>
        <c:auto val="1"/>
        <c:lblAlgn val="ctr"/>
        <c:noMultiLvlLbl val="1"/>
      </c:catAx>
      <c:valAx>
        <c:axId val="2094734552"/>
        <c:scaling>
          <c:orientation val="minMax"/>
          <c:max val="1.8"/>
          <c:min val="0"/>
        </c:scaling>
        <c:delete val="0"/>
        <c:axPos val="b"/>
        <c:majorGridlines>
          <c:spPr>
            <a:ln w="9525" cap="flat">
              <a:solidFill>
                <a:srgbClr val="D3DAE3"/>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4A5872"/>
                </a:solidFill>
                <a:latin typeface="+mn-lt"/>
              </a:defRPr>
            </a:pPr>
            <a:endParaRPr lang="en-US"/>
          </a:p>
        </c:txPr>
        <c:crossAx val="2094734554"/>
        <c:crosses val="autoZero"/>
        <c:crossBetween val="between"/>
        <c:majorUnit val="0.3"/>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A5872"/>
                </a:solidFill>
                <a:latin typeface="+mn-lt"/>
              </a:defRPr>
            </a:pPr>
            <a:r>
              <a:rPr sz="1300" b="0" i="0" u="none" strike="noStrike">
                <a:solidFill>
                  <a:srgbClr val="4A5872"/>
                </a:solidFill>
                <a:latin typeface="+mn-lt"/>
              </a:rPr>
              <a:t>MAE per held-out Games</a:t>
            </a:r>
          </a:p>
        </c:rich>
      </c:tx>
      <c:layout/>
      <c:overlay val="0"/>
    </c:title>
    <c:autoTitleDeleted val="0"/>
    <c:plotArea>
      <c:layout/>
      <c:lineChart>
        <c:varyColors val="0"/>
        <c:ser>
          <c:idx val="0"/>
          <c:order val="0"/>
          <c:tx>
            <c:strRef>
              <c:f>Sheet1!$B$1</c:f>
              <c:strCache>
                <c:ptCount val="1"/>
                <c:pt idx="0">
                  <c:v>Baseline</c:v>
                </c:pt>
              </c:strCache>
            </c:strRef>
          </c:tx>
          <c:spPr>
            <a:solidFill>
              <a:srgbClr val="A86A3D"/>
            </a:solidFill>
            <a:ln w="31750" cap="flat">
              <a:solidFill>
                <a:srgbClr val="A86A3D"/>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7"/>
            <c:spPr>
              <a:solidFill>
                <a:srgbClr val="A86A3D"/>
              </a:solidFill>
              <a:ln w="9525" cap="flat">
                <a:solidFill>
                  <a:srgbClr val="A86A3D"/>
                </a:solidFill>
                <a:prstDash val="solid"/>
                <a:round/>
              </a:ln>
              <a:effectLst/>
            </c:spPr>
          </c:marker>
          <c:cat>
            <c:multiLvlStrRef>
              <c:f>Sheet1!$A$2:$A$7</c:f>
              <c:multiLvlStrCache>
                <c:ptCount val="6"/>
                <c:lvl>
                  <c:pt idx="0">
                    <c:v>1996</c:v>
                  </c:pt>
                  <c:pt idx="1">
                    <c:v>2000</c:v>
                  </c:pt>
                  <c:pt idx="2">
                    <c:v>2004</c:v>
                  </c:pt>
                  <c:pt idx="3">
                    <c:v>2008</c:v>
                  </c:pt>
                  <c:pt idx="4">
                    <c:v>2012</c:v>
                  </c:pt>
                  <c:pt idx="5">
                    <c:v>2016</c:v>
                  </c:pt>
                </c:lvl>
              </c:multiLvlStrCache>
            </c:multiLvlStrRef>
          </c:cat>
          <c:val>
            <c:numRef>
              <c:f>Sheet1!$B$2:$B$7</c:f>
              <c:numCache>
                <c:formatCode>General</c:formatCode>
                <c:ptCount val="6"/>
                <c:pt idx="0">
                  <c:v>2.014</c:v>
                </c:pt>
                <c:pt idx="1">
                  <c:v>1.724</c:v>
                </c:pt>
                <c:pt idx="2">
                  <c:v>1.478</c:v>
                </c:pt>
                <c:pt idx="3">
                  <c:v>1.702</c:v>
                </c:pt>
                <c:pt idx="4">
                  <c:v>1.25</c:v>
                </c:pt>
                <c:pt idx="5">
                  <c:v>1.606</c:v>
                </c:pt>
              </c:numCache>
            </c:numRef>
          </c:val>
          <c:smooth val="0"/>
        </c:ser>
        <c:ser>
          <c:idx val="1"/>
          <c:order val="1"/>
          <c:tx>
            <c:strRef>
              <c:f>Sheet1!$C$1</c:f>
              <c:strCache>
                <c:ptCount val="1"/>
                <c:pt idx="0">
                  <c:v>Historical Features</c:v>
                </c:pt>
              </c:strCache>
            </c:strRef>
          </c:tx>
          <c:spPr>
            <a:solidFill>
              <a:srgbClr val="8F99A9"/>
            </a:solidFill>
            <a:ln w="31750" cap="flat">
              <a:solidFill>
                <a:srgbClr val="8F99A9"/>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7"/>
            <c:spPr>
              <a:solidFill>
                <a:srgbClr val="8F99A9"/>
              </a:solidFill>
              <a:ln w="9525" cap="flat">
                <a:solidFill>
                  <a:srgbClr val="8F99A9"/>
                </a:solidFill>
                <a:prstDash val="solid"/>
                <a:round/>
              </a:ln>
              <a:effectLst/>
            </c:spPr>
          </c:marker>
          <c:cat>
            <c:multiLvlStrRef>
              <c:f>Sheet1!$A$2:$A$7</c:f>
              <c:multiLvlStrCache>
                <c:ptCount val="6"/>
                <c:lvl>
                  <c:pt idx="0">
                    <c:v>1996</c:v>
                  </c:pt>
                  <c:pt idx="1">
                    <c:v>2000</c:v>
                  </c:pt>
                  <c:pt idx="2">
                    <c:v>2004</c:v>
                  </c:pt>
                  <c:pt idx="3">
                    <c:v>2008</c:v>
                  </c:pt>
                  <c:pt idx="4">
                    <c:v>2012</c:v>
                  </c:pt>
                  <c:pt idx="5">
                    <c:v>2016</c:v>
                  </c:pt>
                </c:lvl>
              </c:multiLvlStrCache>
            </c:multiLvlStrRef>
          </c:cat>
          <c:val>
            <c:numRef>
              <c:f>Sheet1!$C$2:$C$7</c:f>
              <c:numCache>
                <c:formatCode>General</c:formatCode>
                <c:ptCount val="6"/>
                <c:pt idx="0">
                  <c:v>1.92</c:v>
                </c:pt>
                <c:pt idx="1">
                  <c:v>1.694</c:v>
                </c:pt>
                <c:pt idx="2">
                  <c:v>1.442</c:v>
                </c:pt>
                <c:pt idx="3">
                  <c:v>1.667</c:v>
                </c:pt>
                <c:pt idx="4">
                  <c:v>1.395</c:v>
                </c:pt>
                <c:pt idx="5">
                  <c:v>1.474</c:v>
                </c:pt>
              </c:numCache>
            </c:numRef>
          </c:val>
          <c:smooth val="0"/>
        </c:ser>
        <c:ser>
          <c:idx val="2"/>
          <c:order val="2"/>
          <c:tx>
            <c:strRef>
              <c:f>Sheet1!$D$1</c:f>
              <c:strCache>
                <c:ptCount val="1"/>
                <c:pt idx="0">
                  <c:v>Paper Two-Stage</c:v>
                </c:pt>
              </c:strCache>
            </c:strRef>
          </c:tx>
          <c:spPr>
            <a:solidFill>
              <a:srgbClr val="C4CAD4"/>
            </a:solidFill>
            <a:ln w="31750" cap="flat">
              <a:solidFill>
                <a:srgbClr val="C4CAD4"/>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7"/>
            <c:spPr>
              <a:solidFill>
                <a:srgbClr val="C4CAD4"/>
              </a:solidFill>
              <a:ln w="9525" cap="flat">
                <a:solidFill>
                  <a:srgbClr val="C4CAD4"/>
                </a:solidFill>
                <a:prstDash val="solid"/>
                <a:round/>
              </a:ln>
              <a:effectLst/>
            </c:spPr>
          </c:marker>
          <c:cat>
            <c:multiLvlStrRef>
              <c:f>Sheet1!$A$2:$A$7</c:f>
              <c:multiLvlStrCache>
                <c:ptCount val="6"/>
                <c:lvl>
                  <c:pt idx="0">
                    <c:v>1996</c:v>
                  </c:pt>
                  <c:pt idx="1">
                    <c:v>2000</c:v>
                  </c:pt>
                  <c:pt idx="2">
                    <c:v>2004</c:v>
                  </c:pt>
                  <c:pt idx="3">
                    <c:v>2008</c:v>
                  </c:pt>
                  <c:pt idx="4">
                    <c:v>2012</c:v>
                  </c:pt>
                  <c:pt idx="5">
                    <c:v>2016</c:v>
                  </c:pt>
                </c:lvl>
              </c:multiLvlStrCache>
            </c:multiLvlStrRef>
          </c:cat>
          <c:val>
            <c:numRef>
              <c:f>Sheet1!$D$2:$D$7</c:f>
              <c:numCache>
                <c:formatCode>General</c:formatCode>
                <c:ptCount val="6"/>
                <c:pt idx="0">
                  <c:v>1.867</c:v>
                </c:pt>
                <c:pt idx="1">
                  <c:v>1.675</c:v>
                </c:pt>
                <c:pt idx="2">
                  <c:v>1.321</c:v>
                </c:pt>
                <c:pt idx="3">
                  <c:v>1.649</c:v>
                </c:pt>
                <c:pt idx="4">
                  <c:v>1.388</c:v>
                </c:pt>
                <c:pt idx="5">
                  <c:v>1.442</c:v>
                </c:pt>
              </c:numCache>
            </c:numRef>
          </c:val>
          <c:smooth val="0"/>
        </c:ser>
        <c:ser>
          <c:idx val="3"/>
          <c:order val="3"/>
          <c:tx>
            <c:strRef>
              <c:f>Sheet1!$E$1</c:f>
              <c:strCache>
                <c:ptCount val="1"/>
                <c:pt idx="0">
                  <c:v>Momentum Target</c:v>
                </c:pt>
              </c:strCache>
            </c:strRef>
          </c:tx>
          <c:spPr>
            <a:solidFill>
              <a:srgbClr val="C8962E"/>
            </a:solidFill>
            <a:ln w="31750" cap="flat">
              <a:solidFill>
                <a:srgbClr val="C8962E"/>
              </a:solidFill>
              <a:prstDash val="solid"/>
              <a:round/>
            </a:ln>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c:symbol val="circle"/>
            <c:size val="7"/>
            <c:spPr>
              <a:solidFill>
                <a:srgbClr val="C8962E"/>
              </a:solidFill>
              <a:ln w="9525" cap="flat">
                <a:solidFill>
                  <a:srgbClr val="C8962E"/>
                </a:solidFill>
                <a:prstDash val="solid"/>
                <a:round/>
              </a:ln>
              <a:effectLst/>
            </c:spPr>
          </c:marker>
          <c:cat>
            <c:multiLvlStrRef>
              <c:f>Sheet1!$A$2:$A$7</c:f>
              <c:multiLvlStrCache>
                <c:ptCount val="6"/>
                <c:lvl>
                  <c:pt idx="0">
                    <c:v>1996</c:v>
                  </c:pt>
                  <c:pt idx="1">
                    <c:v>2000</c:v>
                  </c:pt>
                  <c:pt idx="2">
                    <c:v>2004</c:v>
                  </c:pt>
                  <c:pt idx="3">
                    <c:v>2008</c:v>
                  </c:pt>
                  <c:pt idx="4">
                    <c:v>2012</c:v>
                  </c:pt>
                  <c:pt idx="5">
                    <c:v>2016</c:v>
                  </c:pt>
                </c:lvl>
              </c:multiLvlStrCache>
            </c:multiLvlStrRef>
          </c:cat>
          <c:val>
            <c:numRef>
              <c:f>Sheet1!$E$2:$E$7</c:f>
              <c:numCache>
                <c:formatCode>General</c:formatCode>
                <c:ptCount val="6"/>
                <c:pt idx="0">
                  <c:v>1.825</c:v>
                </c:pt>
                <c:pt idx="1">
                  <c:v>1.3</c:v>
                </c:pt>
                <c:pt idx="2">
                  <c:v>1.111</c:v>
                </c:pt>
                <c:pt idx="3">
                  <c:v>1.473</c:v>
                </c:pt>
                <c:pt idx="4">
                  <c:v>1.238</c:v>
                </c:pt>
                <c:pt idx="5">
                  <c:v>1.298</c:v>
                </c:pt>
              </c:numCache>
            </c:numRef>
          </c:val>
          <c:smooth val="0"/>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A5872"/>
                </a:solidFill>
                <a:latin typeface="+mn-lt"/>
              </a:defRPr>
            </a:pPr>
            <a:endParaRPr lang="en-US"/>
          </a:p>
        </c:txPr>
        <c:crossAx val="2094734552"/>
        <c:crosses val="autoZero"/>
        <c:auto val="1"/>
        <c:lblAlgn val="ctr"/>
        <c:noMultiLvlLbl val="1"/>
      </c:catAx>
      <c:valAx>
        <c:axId val="2094734552"/>
        <c:scaling>
          <c:orientation val="minMax"/>
          <c:max val="2.1"/>
          <c:min val="1"/>
        </c:scaling>
        <c:delete val="0"/>
        <c:axPos val="l"/>
        <c:majorGridlines>
          <c:spPr>
            <a:ln w="9525" cap="flat">
              <a:solidFill>
                <a:srgbClr val="D3DAE3"/>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A5872"/>
                </a:solidFill>
                <a:latin typeface="+mn-lt"/>
              </a:defRPr>
            </a:pPr>
            <a:endParaRPr lang="en-US"/>
          </a:p>
        </c:txPr>
        <c:crossAx val="2094734554"/>
        <c:crosses val="autoZero"/>
        <c:crossBetween val="between"/>
        <c:majorUnit val="0.2"/>
      </c:valAx>
      <c:spPr>
        <a:noFill/>
        <a:ln>
          <a:noFill/>
        </a:ln>
        <a:effectLst/>
      </c:spPr>
    </c:plotArea>
    <c:legend>
      <c:legendPos val="b"/>
      <c:overlay val="0"/>
      <c:txPr>
        <a:bodyPr/>
        <a:lstStyle/>
        <a:p>
          <a:pPr>
            <a:defRPr sz="1200">
              <a:solidFill>
                <a:srgbClr val="13223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A5872"/>
                </a:solidFill>
                <a:latin typeface="+mn-lt"/>
              </a:defRPr>
            </a:pPr>
            <a:r>
              <a:rPr sz="1300" b="0" i="0" u="none" strike="noStrike">
                <a:solidFill>
                  <a:srgbClr val="4A5872"/>
                </a:solidFill>
                <a:latin typeface="+mn-lt"/>
              </a:rPr>
              <a:t>Rio 2016 MAE by model family</a:t>
            </a:r>
          </a:p>
        </c:rich>
      </c:tx>
      <c:layout/>
      <c:overlay val="0"/>
    </c:title>
    <c:autoTitleDeleted val="0"/>
    <c:plotArea>
      <c:layout/>
      <c:barChart>
        <c:barDir val="bar"/>
        <c:grouping val="clustered"/>
        <c:varyColors val="0"/>
        <c:ser>
          <c:idx val="0"/>
          <c:order val="0"/>
          <c:tx>
            <c:strRef>
              <c:f>Sheet1!$B$1</c:f>
              <c:strCache>
                <c:ptCount val="1"/>
                <c:pt idx="0">
                  <c:v>Predict the count</c:v>
                </c:pt>
              </c:strCache>
            </c:strRef>
          </c:tx>
          <c:spPr>
            <a:solidFill>
              <a:srgbClr val="C4CAD4"/>
            </a:solidFill>
            <a:effectLst/>
          </c:spPr>
          <c:invertIfNegative val="0"/>
          <c:dLbls>
            <c:numFmt formatCode="0.00;;" sourceLinked="0"/>
            <c:txPr>
              <a:bodyPr/>
              <a:lstStyle/>
              <a:p>
                <a:pPr>
                  <a:defRPr b="0" i="0" strike="noStrike" sz="1100" u="none">
                    <a:solidFill>
                      <a:srgbClr val="13223A"/>
                    </a:solidFill>
                    <a:latin typeface="+mn-lt"/>
                  </a:defRPr>
                </a:pPr>
              </a:p>
            </c:txPr>
            <c:showLegendKey val="0"/>
            <c:showVal val="1"/>
            <c:showCatName val="0"/>
            <c:showSerName val="0"/>
            <c:showPercent val="0"/>
            <c:showBubbleSize val="0"/>
            <c:showLeaderLines val="0"/>
          </c:dLbls>
          <c:cat>
            <c:multiLvlStrRef>
              <c:f>Sheet1!$A$2:$A$7</c:f>
              <c:multiLvlStrCache>
                <c:ptCount val="6"/>
                <c:lvl>
                  <c:pt idx="0">
                    <c:v>Linear Regression</c:v>
                  </c:pt>
                  <c:pt idx="1">
                    <c:v>Ridge</c:v>
                  </c:pt>
                  <c:pt idx="2">
                    <c:v>Lasso</c:v>
                  </c:pt>
                  <c:pt idx="3">
                    <c:v>Poisson Regression</c:v>
                  </c:pt>
                  <c:pt idx="4">
                    <c:v>SVR (RBF kernel)</c:v>
                  </c:pt>
                  <c:pt idx="5">
                    <c:v>Random Forest</c:v>
                  </c:pt>
                </c:lvl>
              </c:multiLvlStrCache>
            </c:multiLvlStrRef>
          </c:cat>
          <c:val>
            <c:numRef>
              <c:f>Sheet1!$B$2:$B$7</c:f>
              <c:numCache>
                <c:formatCode>General</c:formatCode>
                <c:ptCount val="6"/>
                <c:pt idx="0">
                  <c:v>2.22</c:v>
                </c:pt>
                <c:pt idx="1">
                  <c:v>2.2</c:v>
                </c:pt>
                <c:pt idx="2">
                  <c:v>2.21</c:v>
                </c:pt>
                <c:pt idx="3">
                  <c:v>1.66</c:v>
                </c:pt>
                <c:pt idx="4">
                  <c:v>1.32</c:v>
                </c:pt>
                <c:pt idx="5">
                  <c:v>1.48</c:v>
                </c:pt>
              </c:numCache>
            </c:numRef>
          </c:val>
        </c:ser>
        <c:ser>
          <c:idx val="1"/>
          <c:order val="1"/>
          <c:tx>
            <c:strRef>
              <c:f>Sheet1!$C$1</c:f>
              <c:strCache>
                <c:ptCount val="1"/>
                <c:pt idx="0">
                  <c:v>Predict momentum</c:v>
                </c:pt>
              </c:strCache>
            </c:strRef>
          </c:tx>
          <c:spPr>
            <a:solidFill>
              <a:srgbClr val="C8962E"/>
            </a:solidFill>
            <a:effectLst/>
          </c:spPr>
          <c:invertIfNegative val="0"/>
          <c:dLbls>
            <c:numFmt formatCode="0.00;;" sourceLinked="0"/>
            <c:txPr>
              <a:bodyPr/>
              <a:lstStyle/>
              <a:p>
                <a:pPr>
                  <a:defRPr b="0" i="0" strike="noStrike" sz="1100" u="none">
                    <a:solidFill>
                      <a:srgbClr val="13223A"/>
                    </a:solidFill>
                    <a:latin typeface="+mn-lt"/>
                  </a:defRPr>
                </a:pPr>
              </a:p>
            </c:txPr>
            <c:showLegendKey val="0"/>
            <c:showVal val="1"/>
            <c:showCatName val="0"/>
            <c:showSerName val="0"/>
            <c:showPercent val="0"/>
            <c:showBubbleSize val="0"/>
            <c:showLeaderLines val="0"/>
          </c:dLbls>
          <c:cat>
            <c:multiLvlStrRef>
              <c:f>Sheet1!$A$2:$A$7</c:f>
              <c:multiLvlStrCache>
                <c:ptCount val="6"/>
                <c:lvl>
                  <c:pt idx="0">
                    <c:v>Linear Regression</c:v>
                  </c:pt>
                  <c:pt idx="1">
                    <c:v>Ridge</c:v>
                  </c:pt>
                  <c:pt idx="2">
                    <c:v>Lasso</c:v>
                  </c:pt>
                  <c:pt idx="3">
                    <c:v>Poisson Regression</c:v>
                  </c:pt>
                  <c:pt idx="4">
                    <c:v>SVR (RBF kernel)</c:v>
                  </c:pt>
                  <c:pt idx="5">
                    <c:v>Random Forest</c:v>
                  </c:pt>
                </c:lvl>
              </c:multiLvlStrCache>
            </c:multiLvlStrRef>
          </c:cat>
          <c:val>
            <c:numRef>
              <c:f>Sheet1!$C$2:$C$7</c:f>
              <c:numCache>
                <c:formatCode>General</c:formatCode>
                <c:ptCount val="6"/>
                <c:pt idx="0">
                  <c:v>1.38</c:v>
                </c:pt>
                <c:pt idx="1">
                  <c:v>1.35</c:v>
                </c:pt>
                <c:pt idx="2">
                  <c:v>1.31</c:v>
                </c:pt>
                <c:pt idx="3">
                  <c:v>0</c:v>
                </c:pt>
                <c:pt idx="4">
                  <c:v>1.58</c:v>
                </c:pt>
                <c:pt idx="5">
                  <c:v>1.31</c:v>
                </c:pt>
              </c:numCache>
            </c:numRef>
          </c:val>
        </c:ser>
        <c:dLbls>
          <c:numFmt formatCode="0.00;;" sourceLinked="0"/>
          <c:txPr>
            <a:bodyPr/>
            <a:lstStyle/>
            <a:p>
              <a:pPr>
                <a:defRPr b="0" i="0" strike="noStrike" sz="1100" u="none">
                  <a:solidFill>
                    <a:srgbClr val="13223A"/>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3223A"/>
                </a:solidFill>
                <a:latin typeface="+mn-lt"/>
              </a:defRPr>
            </a:pPr>
            <a:endParaRPr lang="en-US"/>
          </a:p>
        </c:txPr>
        <c:crossAx val="2094734552"/>
        <c:crosses val="autoZero"/>
        <c:auto val="1"/>
        <c:lblAlgn val="ctr"/>
        <c:noMultiLvlLbl val="1"/>
      </c:catAx>
      <c:valAx>
        <c:axId val="2094734552"/>
        <c:scaling>
          <c:orientation val="minMax"/>
          <c:max val="2.5"/>
          <c:min val="0"/>
        </c:scaling>
        <c:delete val="0"/>
        <c:axPos val="b"/>
        <c:majorGridlines>
          <c:spPr>
            <a:ln w="9525" cap="flat">
              <a:solidFill>
                <a:srgbClr val="D3DAE3"/>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4A5872"/>
                </a:solidFill>
                <a:latin typeface="+mn-lt"/>
              </a:defRPr>
            </a:pPr>
            <a:endParaRPr lang="en-US"/>
          </a:p>
        </c:txPr>
        <c:crossAx val="2094734554"/>
        <c:crosses val="autoZero"/>
        <c:crossBetween val="between"/>
        <c:majorUnit val="0.5"/>
      </c:valAx>
      <c:spPr>
        <a:noFill/>
        <a:ln>
          <a:noFill/>
        </a:ln>
        <a:effectLst/>
      </c:spPr>
    </c:plotArea>
    <c:legend>
      <c:legendPos val="b"/>
      <c:overlay val="0"/>
      <c:txPr>
        <a:bodyPr/>
        <a:lstStyle/>
        <a:p>
          <a:pPr>
            <a:defRPr sz="1200">
              <a:solidFill>
                <a:srgbClr val="13223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A5872"/>
                </a:solidFill>
                <a:latin typeface="+mn-lt"/>
              </a:defRPr>
            </a:pPr>
            <a:r>
              <a:rPr sz="1300" b="0" i="0" u="none" strike="noStrike">
                <a:solidFill>
                  <a:srgbClr val="4A5872"/>
                </a:solidFill>
                <a:latin typeface="+mn-lt"/>
              </a:rPr>
              <a:t>Top 8 nations, Tokyo 2020 medals</a:t>
            </a:r>
          </a:p>
        </c:rich>
      </c:tx>
      <c:layout/>
      <c:overlay val="0"/>
    </c:title>
    <c:autoTitleDeleted val="0"/>
    <c:plotArea>
      <c:layout/>
      <c:barChart>
        <c:barDir val="col"/>
        <c:grouping val="clustered"/>
        <c:varyColors val="0"/>
        <c:ser>
          <c:idx val="0"/>
          <c:order val="0"/>
          <c:tx>
            <c:strRef>
              <c:f>Sheet1!$B$1</c:f>
              <c:strCache>
                <c:ptCount val="1"/>
                <c:pt idx="0">
                  <c:v>Our forecast</c:v>
                </c:pt>
              </c:strCache>
            </c:strRef>
          </c:tx>
          <c:spPr>
            <a:solidFill>
              <a:srgbClr val="C8962E"/>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cat>
            <c:multiLvlStrRef>
              <c:f>Sheet1!$A$2:$A$9</c:f>
              <c:multiLvlStrCache>
                <c:ptCount val="8"/>
                <c:lvl>
                  <c:pt idx="0">
                    <c:v>USA</c:v>
                  </c:pt>
                  <c:pt idx="1">
                    <c:v>China</c:v>
                  </c:pt>
                  <c:pt idx="2">
                    <c:v>Russia</c:v>
                  </c:pt>
                  <c:pt idx="3">
                    <c:v>UK</c:v>
                  </c:pt>
                  <c:pt idx="4">
                    <c:v>Japan</c:v>
                  </c:pt>
                  <c:pt idx="5">
                    <c:v>Australia</c:v>
                  </c:pt>
                  <c:pt idx="6">
                    <c:v>Italy</c:v>
                  </c:pt>
                  <c:pt idx="7">
                    <c:v>Germany</c:v>
                  </c:pt>
                </c:lvl>
              </c:multiLvlStrCache>
            </c:multiLvlStrRef>
          </c:cat>
          <c:val>
            <c:numRef>
              <c:f>Sheet1!$B$2:$B$9</c:f>
              <c:numCache>
                <c:formatCode>General</c:formatCode>
                <c:ptCount val="8"/>
                <c:pt idx="0">
                  <c:v>108.1</c:v>
                </c:pt>
                <c:pt idx="1">
                  <c:v>66.8</c:v>
                </c:pt>
                <c:pt idx="2">
                  <c:v>53.2</c:v>
                </c:pt>
                <c:pt idx="3">
                  <c:v>64.4</c:v>
                </c:pt>
                <c:pt idx="4">
                  <c:v>43.7</c:v>
                </c:pt>
                <c:pt idx="5">
                  <c:v>29</c:v>
                </c:pt>
                <c:pt idx="6">
                  <c:v>30</c:v>
                </c:pt>
                <c:pt idx="7">
                  <c:v>41.6</c:v>
                </c:pt>
              </c:numCache>
            </c:numRef>
          </c:val>
        </c:ser>
        <c:ser>
          <c:idx val="1"/>
          <c:order val="1"/>
          <c:tx>
            <c:strRef>
              <c:f>Sheet1!$C$1</c:f>
              <c:strCache>
                <c:ptCount val="1"/>
                <c:pt idx="0">
                  <c:v>Actual</c:v>
                </c:pt>
              </c:strCache>
            </c:strRef>
          </c:tx>
          <c:spPr>
            <a:solidFill>
              <a:srgbClr val="13223A"/>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cat>
            <c:multiLvlStrRef>
              <c:f>Sheet1!$A$2:$A$9</c:f>
              <c:multiLvlStrCache>
                <c:ptCount val="8"/>
                <c:lvl>
                  <c:pt idx="0">
                    <c:v>USA</c:v>
                  </c:pt>
                  <c:pt idx="1">
                    <c:v>China</c:v>
                  </c:pt>
                  <c:pt idx="2">
                    <c:v>Russia</c:v>
                  </c:pt>
                  <c:pt idx="3">
                    <c:v>UK</c:v>
                  </c:pt>
                  <c:pt idx="4">
                    <c:v>Japan</c:v>
                  </c:pt>
                  <c:pt idx="5">
                    <c:v>Australia</c:v>
                  </c:pt>
                  <c:pt idx="6">
                    <c:v>Italy</c:v>
                  </c:pt>
                  <c:pt idx="7">
                    <c:v>Germany</c:v>
                  </c:pt>
                </c:lvl>
              </c:multiLvlStrCache>
            </c:multiLvlStrRef>
          </c:cat>
          <c:val>
            <c:numRef>
              <c:f>Sheet1!$C$2:$C$9</c:f>
              <c:numCache>
                <c:formatCode>General</c:formatCode>
                <c:ptCount val="8"/>
                <c:pt idx="0">
                  <c:v>113</c:v>
                </c:pt>
                <c:pt idx="1">
                  <c:v>95</c:v>
                </c:pt>
                <c:pt idx="2">
                  <c:v>71</c:v>
                </c:pt>
                <c:pt idx="3">
                  <c:v>64</c:v>
                </c:pt>
                <c:pt idx="4">
                  <c:v>58</c:v>
                </c:pt>
                <c:pt idx="5">
                  <c:v>46</c:v>
                </c:pt>
                <c:pt idx="6">
                  <c:v>40</c:v>
                </c:pt>
                <c:pt idx="7">
                  <c:v>37</c:v>
                </c:pt>
              </c:numCache>
            </c:numRef>
          </c:val>
        </c:ser>
        <c:dLbls>
          <c:numFmt formatCode="#,##0" sourceLinked="0"/>
          <c:txPr>
            <a:bodyPr/>
            <a:lstStyle/>
            <a:p>
              <a:pPr>
                <a:defRPr b="0" i="0" strike="noStrike" sz="1200" u="none">
                  <a:solidFill>
                    <a:srgbClr val="000000"/>
                  </a:solidFill>
                  <a:latin typeface="+mn-lt"/>
                </a:defRPr>
              </a:pPr>
            </a:p>
          </c:txPr>
          <c:showLegendKey val="0"/>
          <c:showVal val="0"/>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3223A"/>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3DAE3"/>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4A5872"/>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13223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A5872"/>
                </a:solidFill>
                <a:latin typeface="+mn-lt"/>
              </a:defRPr>
            </a:pPr>
            <a:r>
              <a:rPr sz="1300" b="0" i="0" u="none" strike="noStrike">
                <a:solidFill>
                  <a:srgbClr val="4A5872"/>
                </a:solidFill>
                <a:latin typeface="+mn-lt"/>
              </a:rPr>
              <a:t>Increase in 2016 MAE when shuffled</a:t>
            </a:r>
          </a:p>
        </c:rich>
      </c:tx>
      <c:layout/>
      <c:overlay val="0"/>
    </c:title>
    <c:autoTitleDeleted val="0"/>
    <c:plotArea>
      <c:layout/>
      <c:barChart>
        <c:barDir val="bar"/>
        <c:grouping val="clustered"/>
        <c:varyColors val="0"/>
        <c:ser>
          <c:idx val="0"/>
          <c:order val="0"/>
          <c:tx>
            <c:strRef>
              <c:f>Sheet1!$B$1</c:f>
              <c:strCache>
                <c:ptCount val="1"/>
                <c:pt idx="0">
                  <c:v>Importance</c:v>
                </c:pt>
              </c:strCache>
            </c:strRef>
          </c:tx>
          <c:spPr>
            <a:solidFill>
              <a:srgbClr val="2E5A88"/>
            </a:solidFill>
            <a:effectLst/>
          </c:spPr>
          <c:invertIfNegative val="0"/>
          <c:dLbls>
            <c:numFmt formatCode="0.00" sourceLinked="0"/>
            <c:txPr>
              <a:bodyPr/>
              <a:lstStyle/>
              <a:p>
                <a:pPr>
                  <a:defRPr b="0" i="0" strike="noStrike" sz="1200" u="none">
                    <a:solidFill>
                      <a:srgbClr val="13223A"/>
                    </a:solidFill>
                    <a:latin typeface="+mn-lt"/>
                  </a:defRPr>
                </a:pPr>
              </a:p>
            </c:txPr>
            <c:showLegendKey val="0"/>
            <c:showVal val="1"/>
            <c:showCatName val="0"/>
            <c:showSerName val="0"/>
            <c:showPercent val="0"/>
            <c:showBubbleSize val="0"/>
            <c:showLeaderLines val="0"/>
          </c:dLbls>
          <c:cat>
            <c:multiLvlStrRef>
              <c:f>Sheet1!$A$2:$A$8</c:f>
              <c:multiLvlStrCache>
                <c:ptCount val="7"/>
                <c:lvl>
                  <c:pt idx="0">
                    <c:v>Previous Sports</c:v>
                  </c:pt>
                  <c:pt idx="1">
                    <c:v>Rolling 3 Medal Avg</c:v>
                  </c:pt>
                  <c:pt idx="2">
                    <c:v>Historical Athlete Growth</c:v>
                  </c:pt>
                  <c:pt idx="3">
                    <c:v>Previous Events</c:v>
                  </c:pt>
                  <c:pt idx="4">
                    <c:v>Previous Athletes</c:v>
                  </c:pt>
                  <c:pt idx="5">
                    <c:v>Medal Efficiency</c:v>
                  </c:pt>
                  <c:pt idx="6">
                    <c:v>Previous Medals</c:v>
                  </c:pt>
                </c:lvl>
              </c:multiLvlStrCache>
            </c:multiLvlStrRef>
          </c:cat>
          <c:val>
            <c:numRef>
              <c:f>Sheet1!$B$2:$B$8</c:f>
              <c:numCache>
                <c:formatCode>General</c:formatCode>
                <c:ptCount val="7"/>
                <c:pt idx="0">
                  <c:v>0.012</c:v>
                </c:pt>
                <c:pt idx="1">
                  <c:v>0.013</c:v>
                </c:pt>
                <c:pt idx="2">
                  <c:v>0.029</c:v>
                </c:pt>
                <c:pt idx="3">
                  <c:v>0.033</c:v>
                </c:pt>
                <c:pt idx="4">
                  <c:v>0.115</c:v>
                </c:pt>
                <c:pt idx="5">
                  <c:v>1.326</c:v>
                </c:pt>
                <c:pt idx="6">
                  <c:v>6.483</c:v>
                </c:pt>
              </c:numCache>
            </c:numRef>
          </c:val>
        </c:ser>
        <c:dLbls>
          <c:numFmt formatCode="0.00" sourceLinked="0"/>
          <c:txPr>
            <a:bodyPr/>
            <a:lstStyle/>
            <a:p>
              <a:pPr>
                <a:defRPr b="0" i="0" strike="noStrike" sz="1200" u="none">
                  <a:solidFill>
                    <a:srgbClr val="13223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13223A"/>
                </a:solidFill>
                <a:latin typeface="+mn-lt"/>
              </a:defRPr>
            </a:pPr>
            <a:endParaRPr lang="en-US"/>
          </a:p>
        </c:txPr>
        <c:crossAx val="2094734552"/>
        <c:crosses val="autoZero"/>
        <c:auto val="1"/>
        <c:lblAlgn val="ctr"/>
        <c:noMultiLvlLbl val="1"/>
      </c:catAx>
      <c:valAx>
        <c:axId val="2094734552"/>
        <c:scaling>
          <c:orientation val="minMax"/>
        </c:scaling>
        <c:delete val="0"/>
        <c:axPos val="b"/>
        <c:majorGridlines>
          <c:spPr>
            <a:ln w="9525" cap="flat">
              <a:solidFill>
                <a:srgbClr val="D3DAE3"/>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4A5872"/>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and the one-line idea: we forecast Olympic medal counts from earlier Games only, and the key design is to learn each country's momentum (its change from the last Games) instead of the medal count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reference paper (Dobkowski, Stanford) predicts 2016 medals using socioeconomic data plus last Games' medals. We ask a narrower question: how far can Olympic history alone take us, if we model it properly?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Kaggle dataset by R. Griffin. The raw file has one row per athlete per event, so a relay gold appears four times; we count it once, which matches the official medal tables (USA 121, China 70, UK 67 in 2016).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reproduced the paper's two-stage design as a comparison model, so the panel can see the reference approach and ours on identical data and splits.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feature for a country at Games t is computed with groupby-shift on that country's earlier appearances. A unit test changes a future result and checks that no past feature 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Growth features use log differences so that 1 to 3 medals and 30 to 90 medals read as the same trend. Countries with no history get zeros, which is the neutral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ways to use momentum. The score is the idea in our original plan. The momentum target is what actually works: a Random Forest can only output averages of training targets it has seen, so predicting counts pulls big nations toward the middle. Predicting the change lets one leaf serve a 3-medal and a 90-medal nation on the same trajectory.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Grid: min_samples_leaf in {1,3,5,10} and max_features in {0.6,1.0}, chosen by mean 2012 validation MAE across all eight models. Selected: leaf 10, max_features 0.6, 300 trees. Five random seeds.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Held-out Rio 2016, trained on 1964-2012, mean over five seeds. MAE 1.298 vs 1.474 for the same features predicting the count. Adding the momentum score as a feature does not help (1.501).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Games is predicted from all earlier Games only (expanding window). A momentum-target model has the lowest error in all six. On Rio 2016 the paired bootstrap gives a 95% interval of 0.02 to 0.34 fewer medals of error per country, and 99% of resamples favour our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regressor uses history plus World Bank features, is tuned on 2012 (trained 1964-2008), refitted on 1964-2012 and tested once on Rio 2016. Poisson needs a count target so it has no momentum version. SVR predicting the count is the exception: it has the best RMSE and top-10 error, but this is one test year. The classifier accuracies match the paper's own table (85.5-89.1%).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dataset stops at 2016, so this is a true out-of-sample test. Tokyo was postponed by COVID and hosted by Japan (58 medals, up from 41). Here the World Bank models do best: the paper's two-stage design has the lowest MAE and the economic models are much better on the top 10. The momentum model lands mid-pack. We report this as a limitation.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Permutation importance: how much the Rio 2016 MAE rises when one feature is shuffled. Last Games' medals dominates, followed by medal efficiency. The scatter shows actual vs predicted medals for Rio 2016; the largest misses are hosts and nations with sudden swings.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about the negative results: the composite score on its own did not help, and Tokyo 2020 showed no edge. These make the main finding more credible.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one-sentence takeaway: how you frame the target matters more than adding another feature. Then switch to the live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order: 1) run the quick pipeline (about 30 seconds), 2) open the notebook and walk through features, momentum and the Rio results, 3) open the website and use the country explorer.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rgbClr val="2E5A88"/>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Team 53  |  Olympic Medal Momentum</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13223A"/>
        </a:solidFill>
      </p:bgPr>
    </p:bg>
    <p:spTree>
      <p:nvGrpSpPr>
        <p:cNvPr id="1" name=""/>
        <p:cNvGrpSpPr/>
        <p:nvPr/>
      </p:nvGrpSpPr>
      <p:grpSpPr>
        <a:xfrm>
          <a:off x="0" y="0"/>
          <a:ext cx="0" cy="0"/>
          <a:chOff x="0" y="0"/>
          <a:chExt cx="0" cy="0"/>
        </a:xfrm>
      </p:grpSpPr>
      <p:sp>
        <p:nvSpPr>
          <p:cNvPr id="2"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bg2"/>
                </a:solidFill>
              </a:rPr>
              <a:t>Team 53  |  Olympic Medal Momentum</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4CAD4"/>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image" Target="../media/image-13-1.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ane line"/>
          <p:cNvSpPr/>
          <p:nvPr/>
        </p:nvSpPr>
        <p:spPr>
          <a:xfrm>
            <a:off x="0" y="4160520"/>
            <a:ext cx="12191695" cy="0"/>
          </a:xfrm>
          <a:prstGeom prst="line">
            <a:avLst/>
          </a:prstGeom>
          <a:noFill/>
          <a:ln w="9525">
            <a:solidFill>
              <a:srgbClr val="FFFFFF">
                <a:alpha val="30000"/>
              </a:srgbClr>
            </a:solidFill>
            <a:prstDash val="solid"/>
          </a:ln>
        </p:spPr>
      </p:sp>
      <p:sp>
        <p:nvSpPr>
          <p:cNvPr id="3" name="Lane line"/>
          <p:cNvSpPr/>
          <p:nvPr/>
        </p:nvSpPr>
        <p:spPr>
          <a:xfrm>
            <a:off x="0" y="4663440"/>
            <a:ext cx="12191695" cy="0"/>
          </a:xfrm>
          <a:prstGeom prst="line">
            <a:avLst/>
          </a:prstGeom>
          <a:noFill/>
          <a:ln w="9525">
            <a:solidFill>
              <a:srgbClr val="FFFFFF">
                <a:alpha val="30000"/>
              </a:srgbClr>
            </a:solidFill>
            <a:prstDash val="solid"/>
          </a:ln>
        </p:spPr>
      </p:sp>
      <p:sp>
        <p:nvSpPr>
          <p:cNvPr id="4" name="Lane line"/>
          <p:cNvSpPr/>
          <p:nvPr/>
        </p:nvSpPr>
        <p:spPr>
          <a:xfrm>
            <a:off x="0" y="5166360"/>
            <a:ext cx="12191695" cy="0"/>
          </a:xfrm>
          <a:prstGeom prst="line">
            <a:avLst/>
          </a:prstGeom>
          <a:noFill/>
          <a:ln w="9525">
            <a:solidFill>
              <a:srgbClr val="FFFFFF">
                <a:alpha val="30000"/>
              </a:srgbClr>
            </a:solidFill>
            <a:prstDash val="solid"/>
          </a:ln>
        </p:spPr>
      </p:sp>
      <p:sp>
        <p:nvSpPr>
          <p:cNvPr id="5" name="Lane line"/>
          <p:cNvSpPr/>
          <p:nvPr/>
        </p:nvSpPr>
        <p:spPr>
          <a:xfrm>
            <a:off x="0" y="5669280"/>
            <a:ext cx="12191695" cy="0"/>
          </a:xfrm>
          <a:prstGeom prst="line">
            <a:avLst/>
          </a:prstGeom>
          <a:noFill/>
          <a:ln w="9525">
            <a:solidFill>
              <a:srgbClr val="FFFFFF">
                <a:alpha val="30000"/>
              </a:srgbClr>
            </a:solidFill>
            <a:prstDash val="solid"/>
          </a:ln>
        </p:spPr>
      </p:sp>
      <p:sp>
        <p:nvSpPr>
          <p:cNvPr id="6" name="Lane line"/>
          <p:cNvSpPr/>
          <p:nvPr/>
        </p:nvSpPr>
        <p:spPr>
          <a:xfrm>
            <a:off x="0" y="6172200"/>
            <a:ext cx="12191695" cy="0"/>
          </a:xfrm>
          <a:prstGeom prst="line">
            <a:avLst/>
          </a:prstGeom>
          <a:noFill/>
          <a:ln w="9525">
            <a:solidFill>
              <a:srgbClr val="FFFFFF">
                <a:alpha val="30000"/>
              </a:srgbClr>
            </a:solidFill>
            <a:prstDash val="solid"/>
          </a:ln>
        </p:spPr>
      </p:sp>
      <p:sp>
        <p:nvSpPr>
          <p:cNvPr id="7" name="Text 5"/>
          <p:cNvSpPr txBox="1"/>
          <p:nvPr/>
        </p:nvSpPr>
        <p:spPr>
          <a:xfrm>
            <a:off x="640080" y="822960"/>
            <a:ext cx="10515600" cy="822960"/>
          </a:xfrm>
          <a:prstGeom prst="rect">
            <a:avLst/>
          </a:prstGeom>
          <a:noFill/>
          <a:ln/>
        </p:spPr>
        <p:txBody>
          <a:bodyPr wrap="square" lIns="0" tIns="0" rIns="0" bIns="0" rtlCol="0" anchor="ctr"/>
          <a:lstStyle/>
          <a:p>
            <a:pPr indent="0" marL="0">
              <a:buNone/>
            </a:pPr>
            <a:r>
              <a:rPr lang="en-US" sz="4400" b="1" dirty="0">
                <a:solidFill>
                  <a:schemeClr val="bg1"/>
                </a:solidFill>
                <a:latin typeface="Calibri" pitchFamily="34" charset="0"/>
                <a:ea typeface="Calibri" pitchFamily="34" charset="-122"/>
                <a:cs typeface="Calibri" pitchFamily="34" charset="-120"/>
              </a:rPr>
              <a:t>Temporal Olympic Medal Prediction</a:t>
            </a:r>
            <a:endParaRPr lang="en-US" sz="4400" dirty="0"/>
          </a:p>
        </p:txBody>
      </p:sp>
      <p:sp>
        <p:nvSpPr>
          <p:cNvPr id="8" name="Text 6"/>
          <p:cNvSpPr txBox="1"/>
          <p:nvPr/>
        </p:nvSpPr>
        <p:spPr>
          <a:xfrm>
            <a:off x="640080" y="1645920"/>
            <a:ext cx="10515600" cy="548640"/>
          </a:xfrm>
          <a:prstGeom prst="rect">
            <a:avLst/>
          </a:prstGeom>
          <a:noFill/>
          <a:ln/>
        </p:spPr>
        <p:txBody>
          <a:bodyPr wrap="square" lIns="0" tIns="0" rIns="0" bIns="0" rtlCol="0" anchor="ctr"/>
          <a:lstStyle/>
          <a:p>
            <a:pPr indent="0" marL="0">
              <a:buNone/>
            </a:pPr>
            <a:r>
              <a:rPr lang="en-US" sz="2600" dirty="0">
                <a:solidFill>
                  <a:srgbClr val="E7D3A6"/>
                </a:solidFill>
              </a:rPr>
              <a:t>Learning each country’s Performance Momentum</a:t>
            </a:r>
            <a:endParaRPr lang="en-US" sz="2600" dirty="0"/>
          </a:p>
        </p:txBody>
      </p:sp>
      <p:sp>
        <p:nvSpPr>
          <p:cNvPr id="9" name="Text 7"/>
          <p:cNvSpPr txBox="1"/>
          <p:nvPr/>
        </p:nvSpPr>
        <p:spPr>
          <a:xfrm>
            <a:off x="640080" y="2514600"/>
            <a:ext cx="10515600" cy="365760"/>
          </a:xfrm>
          <a:prstGeom prst="rect">
            <a:avLst/>
          </a:prstGeom>
          <a:noFill/>
          <a:ln/>
        </p:spPr>
        <p:txBody>
          <a:bodyPr wrap="square" lIns="0" tIns="0" rIns="0" bIns="0" rtlCol="0" anchor="ctr"/>
          <a:lstStyle/>
          <a:p>
            <a:pPr indent="0" marL="0">
              <a:buNone/>
            </a:pPr>
            <a:r>
              <a:rPr lang="en-US" sz="1600" dirty="0">
                <a:solidFill>
                  <a:srgbClr val="DCE5F0"/>
                </a:solidFill>
              </a:rPr>
              <a:t>UE24CS352A Machine Learning mini-project, Team 53</a:t>
            </a:r>
            <a:endParaRPr lang="en-US" sz="1600" dirty="0"/>
          </a:p>
        </p:txBody>
      </p:sp>
      <p:sp>
        <p:nvSpPr>
          <p:cNvPr id="10" name="Text 8"/>
          <p:cNvSpPr txBox="1"/>
          <p:nvPr/>
        </p:nvSpPr>
        <p:spPr>
          <a:xfrm>
            <a:off x="640080" y="4251960"/>
            <a:ext cx="5486400" cy="320040"/>
          </a:xfrm>
          <a:prstGeom prst="rect">
            <a:avLst/>
          </a:prstGeom>
          <a:noFill/>
          <a:ln/>
        </p:spPr>
        <p:txBody>
          <a:bodyPr wrap="square" lIns="0" tIns="0" rIns="0" bIns="0" rtlCol="0" anchor="ctr"/>
          <a:lstStyle/>
          <a:p>
            <a:pPr indent="0" marL="0">
              <a:buNone/>
            </a:pPr>
            <a:r>
              <a:rPr lang="en-US" sz="1600" b="1" dirty="0">
                <a:solidFill>
                  <a:schemeClr val="bg1"/>
                </a:solidFill>
              </a:rPr>
              <a:t>Ryona Aditree Ghosh</a:t>
            </a:r>
            <a:pPr indent="0" marL="0">
              <a:buNone/>
            </a:pPr>
            <a:r>
              <a:rPr lang="en-US" sz="1600" dirty="0">
                <a:solidFill>
                  <a:srgbClr val="C9D6E6"/>
                </a:solidFill>
              </a:rPr>
              <a:t>   PES1UG24AM233</a:t>
            </a:r>
            <a:endParaRPr lang="en-US" sz="1600" dirty="0"/>
          </a:p>
        </p:txBody>
      </p:sp>
      <p:sp>
        <p:nvSpPr>
          <p:cNvPr id="11" name="Runner"/>
          <p:cNvSpPr/>
          <p:nvPr/>
        </p:nvSpPr>
        <p:spPr>
          <a:xfrm>
            <a:off x="6766560" y="4279392"/>
            <a:ext cx="265176" cy="265176"/>
          </a:xfrm>
          <a:prstGeom prst="ellipse">
            <a:avLst/>
          </a:prstGeom>
          <a:solidFill>
            <a:srgbClr val="C8962E"/>
          </a:solidFill>
          <a:ln w="12700">
            <a:solidFill>
              <a:srgbClr val="13223A"/>
            </a:solidFill>
            <a:prstDash val="solid"/>
          </a:ln>
        </p:spPr>
      </p:sp>
      <p:sp>
        <p:nvSpPr>
          <p:cNvPr id="12" name="Text 10"/>
          <p:cNvSpPr txBox="1"/>
          <p:nvPr/>
        </p:nvSpPr>
        <p:spPr>
          <a:xfrm>
            <a:off x="640080" y="4754880"/>
            <a:ext cx="5486400" cy="320040"/>
          </a:xfrm>
          <a:prstGeom prst="rect">
            <a:avLst/>
          </a:prstGeom>
          <a:noFill/>
          <a:ln/>
        </p:spPr>
        <p:txBody>
          <a:bodyPr wrap="square" lIns="0" tIns="0" rIns="0" bIns="0" rtlCol="0" anchor="ctr"/>
          <a:lstStyle/>
          <a:p>
            <a:pPr indent="0" marL="0">
              <a:buNone/>
            </a:pPr>
            <a:r>
              <a:rPr lang="en-US" sz="1600" b="1" dirty="0">
                <a:solidFill>
                  <a:schemeClr val="bg1"/>
                </a:solidFill>
              </a:rPr>
              <a:t>Rishit V N S</a:t>
            </a:r>
            <a:pPr indent="0" marL="0">
              <a:buNone/>
            </a:pPr>
            <a:r>
              <a:rPr lang="en-US" sz="1600" dirty="0">
                <a:solidFill>
                  <a:srgbClr val="C9D6E6"/>
                </a:solidFill>
              </a:rPr>
              <a:t>   PES1UG24AM225</a:t>
            </a:r>
            <a:endParaRPr lang="en-US" sz="1600" dirty="0"/>
          </a:p>
        </p:txBody>
      </p:sp>
      <p:sp>
        <p:nvSpPr>
          <p:cNvPr id="13" name="Runner"/>
          <p:cNvSpPr/>
          <p:nvPr/>
        </p:nvSpPr>
        <p:spPr>
          <a:xfrm>
            <a:off x="8321040" y="4782312"/>
            <a:ext cx="265176" cy="265176"/>
          </a:xfrm>
          <a:prstGeom prst="ellipse">
            <a:avLst/>
          </a:prstGeom>
          <a:solidFill>
            <a:srgbClr val="C8962E"/>
          </a:solidFill>
          <a:ln w="12700">
            <a:solidFill>
              <a:srgbClr val="13223A"/>
            </a:solidFill>
            <a:prstDash val="solid"/>
          </a:ln>
        </p:spPr>
      </p:sp>
      <p:sp>
        <p:nvSpPr>
          <p:cNvPr id="14" name="Text 12"/>
          <p:cNvSpPr txBox="1"/>
          <p:nvPr/>
        </p:nvSpPr>
        <p:spPr>
          <a:xfrm>
            <a:off x="640080" y="6172200"/>
            <a:ext cx="5486400" cy="274320"/>
          </a:xfrm>
          <a:prstGeom prst="rect">
            <a:avLst/>
          </a:prstGeom>
          <a:noFill/>
          <a:ln/>
        </p:spPr>
        <p:txBody>
          <a:bodyPr wrap="square" lIns="0" tIns="0" rIns="0" bIns="0" rtlCol="0" anchor="ctr"/>
          <a:lstStyle/>
          <a:p>
            <a:pPr indent="0" marL="0">
              <a:buNone/>
            </a:pPr>
            <a:r>
              <a:rPr lang="en-US" sz="1200" dirty="0">
                <a:solidFill>
                  <a:srgbClr val="C9D6E6"/>
                </a:solidFill>
              </a:rPr>
              <a:t>PES University, October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chemeClr val="tx1"/>
                </a:solidFill>
              </a:rPr>
              <a:t>The problem: forecast a country’s medals before the Games</a:t>
            </a:r>
            <a:endParaRPr lang="en-US" sz="3400" dirty="0"/>
          </a:p>
        </p:txBody>
      </p:sp>
      <p:sp>
        <p:nvSpPr>
          <p:cNvPr id="4" name="Text 1"/>
          <p:cNvSpPr txBox="1"/>
          <p:nvPr/>
        </p:nvSpPr>
        <p:spPr>
          <a:xfrm>
            <a:off x="548640" y="1417320"/>
            <a:ext cx="6035040" cy="2926080"/>
          </a:xfrm>
          <a:prstGeom prst="rect">
            <a:avLst/>
          </a:prstGeom>
          <a:noFill/>
          <a:ln/>
        </p:spPr>
        <p:txBody>
          <a:bodyPr wrap="square" lIns="0" tIns="0" rIns="0" bIns="0" rtlCol="0" anchor="t"/>
          <a:lstStyle/>
          <a:p>
            <a:pPr indent="0" marL="0">
              <a:buNone/>
            </a:pPr>
            <a:r>
              <a:rPr lang="en-US" sz="2000" dirty="0">
                <a:solidFill>
                  <a:schemeClr val="tx1"/>
                </a:solidFill>
              </a:rPr>
              <a:t>Predict how many medals each country will win at a Summer Olympics, using only information available before those Games.</a:t>
            </a:r>
            <a:endParaRPr lang="en-US" sz="1600" dirty="0"/>
          </a:p>
          <a:p>
            <a:pPr indent="0" marL="0">
              <a:buNone/>
            </a:pPr>
            <a:r>
              <a:rPr lang="en-US" sz="1000" dirty="0">
                <a:solidFill>
                  <a:schemeClr val="tx1"/>
                </a:solidFill>
              </a:rPr>
              <a:t> </a:t>
            </a:r>
            <a:endParaRPr lang="en-US" sz="1600" dirty="0"/>
          </a:p>
          <a:p>
            <a:pPr indent="0" marL="0">
              <a:buNone/>
            </a:pPr>
            <a:r>
              <a:rPr lang="en-US" sz="1800" dirty="0">
                <a:solidFill>
                  <a:schemeClr val="accent6"/>
                </a:solidFill>
              </a:rPr>
              <a:t>Last Games’ medal count is already a strong forecast. The real question is whether a country’s trajectory (rising, steady or fading) adds anything beyond it.</a:t>
            </a:r>
            <a:endParaRPr lang="en-US" sz="1600" dirty="0"/>
          </a:p>
        </p:txBody>
      </p:sp>
      <p:sp>
        <p:nvSpPr>
          <p:cNvPr id="5" name="Question card"/>
          <p:cNvSpPr/>
          <p:nvPr/>
        </p:nvSpPr>
        <p:spPr>
          <a:xfrm>
            <a:off x="548640" y="4572000"/>
            <a:ext cx="6035040" cy="1417320"/>
          </a:xfrm>
          <a:prstGeom prst="roundRect">
            <a:avLst>
              <a:gd name="adj" fmla="val 7742"/>
            </a:avLst>
          </a:prstGeom>
          <a:solidFill>
            <a:srgbClr val="EDF0F3"/>
          </a:solidFill>
          <a:ln w="12700">
            <a:solidFill>
              <a:srgbClr val="EDF0F3"/>
            </a:solidFill>
            <a:prstDash val="solid"/>
          </a:ln>
        </p:spPr>
      </p:sp>
      <p:sp>
        <p:nvSpPr>
          <p:cNvPr id="6" name="Text 3"/>
          <p:cNvSpPr txBox="1"/>
          <p:nvPr/>
        </p:nvSpPr>
        <p:spPr>
          <a:xfrm>
            <a:off x="777240" y="4736592"/>
            <a:ext cx="5577840" cy="1143000"/>
          </a:xfrm>
          <a:prstGeom prst="rect">
            <a:avLst/>
          </a:prstGeom>
          <a:noFill/>
          <a:ln/>
        </p:spPr>
        <p:txBody>
          <a:bodyPr wrap="square" lIns="0" tIns="0" rIns="0" bIns="0" rtlCol="0" anchor="t"/>
          <a:lstStyle/>
          <a:p>
            <a:pPr indent="0" marL="0">
              <a:buNone/>
            </a:pPr>
            <a:r>
              <a:rPr lang="en-US" sz="1600" b="1" dirty="0">
                <a:solidFill>
                  <a:schemeClr val="tx1"/>
                </a:solidFill>
              </a:rPr>
              <a:t>Research question</a:t>
            </a:r>
            <a:endParaRPr lang="en-US" sz="1600" dirty="0"/>
          </a:p>
          <a:p>
            <a:pPr indent="0" marL="0">
              <a:buNone/>
            </a:pPr>
            <a:r>
              <a:rPr lang="en-US" sz="1600" dirty="0">
                <a:solidFill>
                  <a:schemeClr val="tx1"/>
                </a:solidFill>
              </a:rPr>
              <a:t>Does explicitly modelling performance momentum improve medal forecasts over a model that predicts the count directly?</a:t>
            </a:r>
            <a:endParaRPr lang="en-US" sz="1600" dirty="0"/>
          </a:p>
        </p:txBody>
      </p:sp>
      <p:sp>
        <p:nvSpPr>
          <p:cNvPr id="7" name="Medal disc"/>
          <p:cNvSpPr/>
          <p:nvPr/>
        </p:nvSpPr>
        <p:spPr>
          <a:xfrm>
            <a:off x="7360920" y="1618488"/>
            <a:ext cx="310896" cy="310896"/>
          </a:xfrm>
          <a:prstGeom prst="ellipse">
            <a:avLst/>
          </a:prstGeom>
          <a:solidFill>
            <a:srgbClr val="C8962E"/>
          </a:solidFill>
          <a:ln w="12700">
            <a:solidFill>
              <a:srgbClr val="C8962E"/>
            </a:solidFill>
            <a:prstDash val="solid"/>
          </a:ln>
        </p:spPr>
      </p:sp>
      <p:sp>
        <p:nvSpPr>
          <p:cNvPr id="8" name="Text 5"/>
          <p:cNvSpPr txBox="1"/>
          <p:nvPr/>
        </p:nvSpPr>
        <p:spPr>
          <a:xfrm>
            <a:off x="7909560" y="1417320"/>
            <a:ext cx="3840480" cy="731520"/>
          </a:xfrm>
          <a:prstGeom prst="rect">
            <a:avLst/>
          </a:prstGeom>
          <a:noFill/>
          <a:ln/>
        </p:spPr>
        <p:txBody>
          <a:bodyPr wrap="square" lIns="0" tIns="0" rIns="0" bIns="0" rtlCol="0" anchor="t"/>
          <a:lstStyle/>
          <a:p>
            <a:pPr indent="0" marL="0">
              <a:buNone/>
            </a:pPr>
            <a:r>
              <a:rPr lang="en-US" sz="4800" b="1" dirty="0">
                <a:solidFill>
                  <a:schemeClr val="tx1"/>
                </a:solidFill>
              </a:rPr>
              <a:t>206</a:t>
            </a:r>
            <a:endParaRPr lang="en-US" sz="4800" dirty="0"/>
          </a:p>
        </p:txBody>
      </p:sp>
      <p:sp>
        <p:nvSpPr>
          <p:cNvPr id="9" name="Text 6"/>
          <p:cNvSpPr txBox="1"/>
          <p:nvPr/>
        </p:nvSpPr>
        <p:spPr>
          <a:xfrm>
            <a:off x="7909560" y="2167128"/>
            <a:ext cx="3840480" cy="365760"/>
          </a:xfrm>
          <a:prstGeom prst="rect">
            <a:avLst/>
          </a:prstGeom>
          <a:noFill/>
          <a:ln/>
        </p:spPr>
        <p:txBody>
          <a:bodyPr wrap="square" lIns="0" tIns="0" rIns="0" bIns="0" rtlCol="0" anchor="t"/>
          <a:lstStyle/>
          <a:p>
            <a:pPr indent="0" marL="0">
              <a:buNone/>
            </a:pPr>
            <a:r>
              <a:rPr lang="en-US" sz="1600" dirty="0">
                <a:solidFill>
                  <a:schemeClr val="accent6"/>
                </a:solidFill>
              </a:rPr>
              <a:t>countries in Rio 2016</a:t>
            </a:r>
            <a:endParaRPr lang="en-US" sz="1600" dirty="0"/>
          </a:p>
        </p:txBody>
      </p:sp>
      <p:sp>
        <p:nvSpPr>
          <p:cNvPr id="10" name="Medal disc"/>
          <p:cNvSpPr/>
          <p:nvPr/>
        </p:nvSpPr>
        <p:spPr>
          <a:xfrm>
            <a:off x="7360920" y="3172968"/>
            <a:ext cx="310896" cy="310896"/>
          </a:xfrm>
          <a:prstGeom prst="ellipse">
            <a:avLst/>
          </a:prstGeom>
          <a:solidFill>
            <a:srgbClr val="8F99A9"/>
          </a:solidFill>
          <a:ln w="12700">
            <a:solidFill>
              <a:srgbClr val="8F99A9"/>
            </a:solidFill>
            <a:prstDash val="solid"/>
          </a:ln>
        </p:spPr>
      </p:sp>
      <p:sp>
        <p:nvSpPr>
          <p:cNvPr id="11" name="Text 8"/>
          <p:cNvSpPr txBox="1"/>
          <p:nvPr/>
        </p:nvSpPr>
        <p:spPr>
          <a:xfrm>
            <a:off x="7909560" y="2971800"/>
            <a:ext cx="3840480" cy="731520"/>
          </a:xfrm>
          <a:prstGeom prst="rect">
            <a:avLst/>
          </a:prstGeom>
          <a:noFill/>
          <a:ln/>
        </p:spPr>
        <p:txBody>
          <a:bodyPr wrap="square" lIns="0" tIns="0" rIns="0" bIns="0" rtlCol="0" anchor="t"/>
          <a:lstStyle/>
          <a:p>
            <a:pPr indent="0" marL="0">
              <a:buNone/>
            </a:pPr>
            <a:r>
              <a:rPr lang="en-US" sz="4800" b="1" dirty="0">
                <a:solidFill>
                  <a:schemeClr val="tx1"/>
                </a:solidFill>
              </a:rPr>
              <a:t>2,770</a:t>
            </a:r>
            <a:endParaRPr lang="en-US" sz="4800" dirty="0"/>
          </a:p>
        </p:txBody>
      </p:sp>
      <p:sp>
        <p:nvSpPr>
          <p:cNvPr id="12" name="Text 9"/>
          <p:cNvSpPr txBox="1"/>
          <p:nvPr/>
        </p:nvSpPr>
        <p:spPr>
          <a:xfrm>
            <a:off x="7909560" y="3721608"/>
            <a:ext cx="3840480" cy="365760"/>
          </a:xfrm>
          <a:prstGeom prst="rect">
            <a:avLst/>
          </a:prstGeom>
          <a:noFill/>
          <a:ln/>
        </p:spPr>
        <p:txBody>
          <a:bodyPr wrap="square" lIns="0" tIns="0" rIns="0" bIns="0" rtlCol="0" anchor="t"/>
          <a:lstStyle/>
          <a:p>
            <a:pPr indent="0" marL="0">
              <a:buNone/>
            </a:pPr>
            <a:r>
              <a:rPr lang="en-US" sz="1600" dirty="0">
                <a:solidFill>
                  <a:schemeClr val="accent6"/>
                </a:solidFill>
              </a:rPr>
              <a:t>country-Games rows, 1896–2016</a:t>
            </a:r>
            <a:endParaRPr lang="en-US" sz="1600" dirty="0"/>
          </a:p>
        </p:txBody>
      </p:sp>
      <p:sp>
        <p:nvSpPr>
          <p:cNvPr id="13" name="Medal disc"/>
          <p:cNvSpPr/>
          <p:nvPr/>
        </p:nvSpPr>
        <p:spPr>
          <a:xfrm>
            <a:off x="7360920" y="4727448"/>
            <a:ext cx="310896" cy="310896"/>
          </a:xfrm>
          <a:prstGeom prst="ellipse">
            <a:avLst/>
          </a:prstGeom>
          <a:solidFill>
            <a:srgbClr val="A86A3D"/>
          </a:solidFill>
          <a:ln w="12700">
            <a:solidFill>
              <a:srgbClr val="A86A3D"/>
            </a:solidFill>
            <a:prstDash val="solid"/>
          </a:ln>
        </p:spPr>
      </p:sp>
      <p:sp>
        <p:nvSpPr>
          <p:cNvPr id="14" name="Text 11"/>
          <p:cNvSpPr txBox="1"/>
          <p:nvPr/>
        </p:nvSpPr>
        <p:spPr>
          <a:xfrm>
            <a:off x="7909560" y="4526280"/>
            <a:ext cx="3840480" cy="731520"/>
          </a:xfrm>
          <a:prstGeom prst="rect">
            <a:avLst/>
          </a:prstGeom>
          <a:noFill/>
          <a:ln/>
        </p:spPr>
        <p:txBody>
          <a:bodyPr wrap="square" lIns="0" tIns="0" rIns="0" bIns="0" rtlCol="0" anchor="t"/>
          <a:lstStyle/>
          <a:p>
            <a:pPr indent="0" marL="0">
              <a:buNone/>
            </a:pPr>
            <a:r>
              <a:rPr lang="en-US" sz="4800" b="1" dirty="0">
                <a:solidFill>
                  <a:schemeClr val="tx1"/>
                </a:solidFill>
              </a:rPr>
              <a:t>0</a:t>
            </a:r>
            <a:endParaRPr lang="en-US" sz="4800" dirty="0"/>
          </a:p>
        </p:txBody>
      </p:sp>
      <p:sp>
        <p:nvSpPr>
          <p:cNvPr id="15" name="Text 12"/>
          <p:cNvSpPr txBox="1"/>
          <p:nvPr/>
        </p:nvSpPr>
        <p:spPr>
          <a:xfrm>
            <a:off x="7909560" y="5276088"/>
            <a:ext cx="3840480" cy="365760"/>
          </a:xfrm>
          <a:prstGeom prst="rect">
            <a:avLst/>
          </a:prstGeom>
          <a:noFill/>
          <a:ln/>
        </p:spPr>
        <p:txBody>
          <a:bodyPr wrap="square" lIns="0" tIns="0" rIns="0" bIns="0" rtlCol="0" anchor="t"/>
          <a:lstStyle/>
          <a:p>
            <a:pPr indent="0" marL="0">
              <a:buNone/>
            </a:pPr>
            <a:r>
              <a:rPr lang="en-US" sz="1600" dirty="0">
                <a:solidFill>
                  <a:schemeClr val="accent6"/>
                </a:solidFill>
              </a:rPr>
              <a:t>features from the target Games</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chemeClr val="tx1"/>
                </a:solidFill>
              </a:rPr>
              <a:t>Dataset: 120 years of Olympic history</a:t>
            </a:r>
            <a:endParaRPr lang="en-US" sz="3400" dirty="0"/>
          </a:p>
        </p:txBody>
      </p:sp>
      <p:graphicFrame>
        <p:nvGraphicFramePr>
          <p:cNvPr id="4" name="Dataset table"/>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2377440"/>
                <a:gridCol w="8686800"/>
              </a:tblGrid>
              <a:tr h="530352">
                <a:tc>
                  <a:txBody>
                    <a:bodyPr/>
                    <a:lstStyle/>
                    <a:p>
                      <a:pPr indent="0" marL="0">
                        <a:buNone/>
                      </a:pPr>
                      <a:r>
                        <a:rPr lang="en-US" sz="1600" b="1" dirty="0">
                          <a:solidFill>
                            <a:schemeClr val="tx1"/>
                          </a:solidFill>
                        </a:rPr>
                        <a:t>Source</a:t>
                      </a:r>
                      <a:endParaRPr lang="en-US" sz="1600" dirty="0"/>
                    </a:p>
                  </a:txBody>
                  <a:tcPr marL="137160" marR="137160" marT="0" marB="0" anchor="ctr">
                    <a:lnL w="0" cap="flat" cmpd="sng" algn="ctr">
                      <a:noFill/>
                    </a:lnL>
                    <a:lnR w="0" cap="flat" cmpd="sng" algn="ctr">
                      <a:noFill/>
                    </a:lnR>
                    <a:lnT w="0" cap="flat" cmpd="sng" algn="ctr">
                      <a:noFill/>
                    </a:lnT>
                    <a:lnB w="0" cap="flat" cmpd="sng" algn="ctr">
                      <a:noFill/>
                    </a:lnB>
                    <a:solidFill>
                      <a:srgbClr val="EDF0F3"/>
                    </a:solidFill>
                  </a:tcPr>
                </a:tc>
                <a:tc>
                  <a:txBody>
                    <a:bodyPr/>
                    <a:lstStyle/>
                    <a:p>
                      <a:pPr indent="0" marL="0">
                        <a:buNone/>
                      </a:pPr>
                      <a:r>
                        <a:rPr lang="en-US" sz="1600" dirty="0">
                          <a:solidFill>
                            <a:schemeClr val="tx1"/>
                          </a:solidFill>
                        </a:rPr>
                        <a:t>Kaggle athlete_events.csv (271,116 rows) and noc_regions.csv</a:t>
                      </a:r>
                      <a:endParaRPr lang="en-US" sz="1600" dirty="0"/>
                    </a:p>
                  </a:txBody>
                  <a:tcPr marL="137160" marR="137160" marT="0" marB="0" anchor="ctr">
                    <a:lnL w="0" cap="flat" cmpd="sng" algn="ctr">
                      <a:noFill/>
                    </a:lnL>
                    <a:lnR w="0" cap="flat" cmpd="sng" algn="ctr">
                      <a:noFill/>
                    </a:lnR>
                    <a:lnT w="0" cap="flat" cmpd="sng" algn="ctr">
                      <a:noFill/>
                    </a:lnT>
                    <a:lnB w="0" cap="flat" cmpd="sng" algn="ctr">
                      <a:noFill/>
                    </a:lnB>
                    <a:solidFill>
                      <a:srgbClr val="EDF0F3"/>
                    </a:solidFill>
                  </a:tcPr>
                </a:tc>
              </a:tr>
              <a:tr h="530352">
                <a:tc>
                  <a:txBody>
                    <a:bodyPr/>
                    <a:lstStyle/>
                    <a:p>
                      <a:pPr indent="0" marL="0">
                        <a:buNone/>
                      </a:pPr>
                      <a:r>
                        <a:rPr lang="en-US" sz="1600" b="1" dirty="0">
                          <a:solidFill>
                            <a:schemeClr val="tx1"/>
                          </a:solidFill>
                        </a:rPr>
                        <a:t>Scope</a:t>
                      </a:r>
                      <a:endParaRPr lang="en-US" sz="1600" dirty="0"/>
                    </a:p>
                  </a:txBody>
                  <a:tcPr marL="137160" marR="13716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600" dirty="0">
                          <a:solidFill>
                            <a:schemeClr val="tx1"/>
                          </a:solidFill>
                        </a:rPr>
                        <a:t>Summer Games only; unofficial 1906 Games removed</a:t>
                      </a:r>
                      <a:endParaRPr lang="en-US" sz="1600" dirty="0"/>
                    </a:p>
                  </a:txBody>
                  <a:tcPr marL="137160" marR="137160" marT="0" marB="0" anchor="ctr">
                    <a:lnL w="0" cap="flat" cmpd="sng" algn="ctr">
                      <a:noFill/>
                    </a:lnL>
                    <a:lnR w="0" cap="flat" cmpd="sng" algn="ctr">
                      <a:noFill/>
                    </a:lnR>
                    <a:lnT w="0" cap="flat" cmpd="sng" algn="ctr">
                      <a:noFill/>
                    </a:lnT>
                    <a:lnB w="0" cap="flat" cmpd="sng" algn="ctr">
                      <a:noFill/>
                    </a:lnB>
                    <a:solidFill>
                      <a:srgbClr val="FFFFFF"/>
                    </a:solidFill>
                  </a:tcPr>
                </a:tc>
              </a:tr>
              <a:tr h="530352">
                <a:tc>
                  <a:txBody>
                    <a:bodyPr/>
                    <a:lstStyle/>
                    <a:p>
                      <a:pPr indent="0" marL="0">
                        <a:buNone/>
                      </a:pPr>
                      <a:r>
                        <a:rPr lang="en-US" sz="1600" b="1" dirty="0">
                          <a:solidFill>
                            <a:schemeClr val="tx1"/>
                          </a:solidFill>
                        </a:rPr>
                        <a:t>Team medals</a:t>
                      </a:r>
                      <a:endParaRPr lang="en-US" sz="1600" dirty="0"/>
                    </a:p>
                  </a:txBody>
                  <a:tcPr marL="137160" marR="137160" marT="0" marB="0" anchor="ctr">
                    <a:lnL w="0" cap="flat" cmpd="sng" algn="ctr">
                      <a:noFill/>
                    </a:lnL>
                    <a:lnR w="0" cap="flat" cmpd="sng" algn="ctr">
                      <a:noFill/>
                    </a:lnR>
                    <a:lnT w="0" cap="flat" cmpd="sng" algn="ctr">
                      <a:noFill/>
                    </a:lnT>
                    <a:lnB w="0" cap="flat" cmpd="sng" algn="ctr">
                      <a:noFill/>
                    </a:lnB>
                    <a:solidFill>
                      <a:srgbClr val="EDF0F3"/>
                    </a:solidFill>
                  </a:tcPr>
                </a:tc>
                <a:tc>
                  <a:txBody>
                    <a:bodyPr/>
                    <a:lstStyle/>
                    <a:p>
                      <a:pPr indent="0" marL="0">
                        <a:buNone/>
                      </a:pPr>
                      <a:r>
                        <a:rPr lang="en-US" sz="1600" dirty="0">
                          <a:solidFill>
                            <a:schemeClr val="tx1"/>
                          </a:solidFill>
                        </a:rPr>
                        <a:t>Counted once per event, matching official medal tables</a:t>
                      </a:r>
                      <a:endParaRPr lang="en-US" sz="1600" dirty="0"/>
                    </a:p>
                  </a:txBody>
                  <a:tcPr marL="137160" marR="137160" marT="0" marB="0" anchor="ctr">
                    <a:lnL w="0" cap="flat" cmpd="sng" algn="ctr">
                      <a:noFill/>
                    </a:lnL>
                    <a:lnR w="0" cap="flat" cmpd="sng" algn="ctr">
                      <a:noFill/>
                    </a:lnR>
                    <a:lnT w="0" cap="flat" cmpd="sng" algn="ctr">
                      <a:noFill/>
                    </a:lnT>
                    <a:lnB w="0" cap="flat" cmpd="sng" algn="ctr">
                      <a:noFill/>
                    </a:lnB>
                    <a:solidFill>
                      <a:srgbClr val="EDF0F3"/>
                    </a:solidFill>
                  </a:tcPr>
                </a:tc>
              </a:tr>
              <a:tr h="530352">
                <a:tc>
                  <a:txBody>
                    <a:bodyPr/>
                    <a:lstStyle/>
                    <a:p>
                      <a:pPr indent="0" marL="0">
                        <a:buNone/>
                      </a:pPr>
                      <a:r>
                        <a:rPr lang="en-US" sz="1600" b="1" dirty="0">
                          <a:solidFill>
                            <a:schemeClr val="tx1"/>
                          </a:solidFill>
                        </a:rPr>
                        <a:t>Countries</a:t>
                      </a:r>
                      <a:endParaRPr lang="en-US" sz="1600" dirty="0"/>
                    </a:p>
                  </a:txBody>
                  <a:tcPr marL="137160" marR="13716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600" dirty="0">
                          <a:solidFill>
                            <a:schemeClr val="tx1"/>
                          </a:solidFill>
                        </a:rPr>
                        <a:t>NOC codes mapped to regions: FRG/GDR to Germany, URS/EUN to Russia</a:t>
                      </a:r>
                      <a:endParaRPr lang="en-US" sz="1600" dirty="0"/>
                    </a:p>
                  </a:txBody>
                  <a:tcPr marL="137160" marR="137160" marT="0" marB="0" anchor="ctr">
                    <a:lnL w="0" cap="flat" cmpd="sng" algn="ctr">
                      <a:noFill/>
                    </a:lnL>
                    <a:lnR w="0" cap="flat" cmpd="sng" algn="ctr">
                      <a:noFill/>
                    </a:lnR>
                    <a:lnT w="0" cap="flat" cmpd="sng" algn="ctr">
                      <a:noFill/>
                    </a:lnT>
                    <a:lnB w="0" cap="flat" cmpd="sng" algn="ctr">
                      <a:noFill/>
                    </a:lnB>
                    <a:solidFill>
                      <a:srgbClr val="FFFFFF"/>
                    </a:solidFill>
                  </a:tcPr>
                </a:tc>
              </a:tr>
              <a:tr h="530352">
                <a:tc>
                  <a:txBody>
                    <a:bodyPr/>
                    <a:lstStyle/>
                    <a:p>
                      <a:pPr indent="0" marL="0">
                        <a:buNone/>
                      </a:pPr>
                      <a:r>
                        <a:rPr lang="en-US" sz="1600" b="1" dirty="0">
                          <a:solidFill>
                            <a:schemeClr val="tx1"/>
                          </a:solidFill>
                        </a:rPr>
                        <a:t>Unit of analysis</a:t>
                      </a:r>
                      <a:endParaRPr lang="en-US" sz="1600" dirty="0"/>
                    </a:p>
                  </a:txBody>
                  <a:tcPr marL="137160" marR="137160" marT="0" marB="0" anchor="ctr">
                    <a:lnL w="0" cap="flat" cmpd="sng" algn="ctr">
                      <a:noFill/>
                    </a:lnL>
                    <a:lnR w="0" cap="flat" cmpd="sng" algn="ctr">
                      <a:noFill/>
                    </a:lnR>
                    <a:lnT w="0" cap="flat" cmpd="sng" algn="ctr">
                      <a:noFill/>
                    </a:lnT>
                    <a:lnB w="0" cap="flat" cmpd="sng" algn="ctr">
                      <a:noFill/>
                    </a:lnB>
                    <a:solidFill>
                      <a:srgbClr val="EDF0F3"/>
                    </a:solidFill>
                  </a:tcPr>
                </a:tc>
                <a:tc>
                  <a:txBody>
                    <a:bodyPr/>
                    <a:lstStyle/>
                    <a:p>
                      <a:pPr indent="0" marL="0">
                        <a:buNone/>
                      </a:pPr>
                      <a:r>
                        <a:rPr lang="en-US" sz="1600" dirty="0">
                          <a:solidFill>
                            <a:schemeClr val="tx1"/>
                          </a:solidFill>
                        </a:rPr>
                        <a:t>One row per Country × Olympic Year (athletes, sports, events, medals)</a:t>
                      </a:r>
                      <a:endParaRPr lang="en-US" sz="1600" dirty="0"/>
                    </a:p>
                  </a:txBody>
                  <a:tcPr marL="137160" marR="137160" marT="0" marB="0" anchor="ctr">
                    <a:lnL w="0" cap="flat" cmpd="sng" algn="ctr">
                      <a:noFill/>
                    </a:lnL>
                    <a:lnR w="0" cap="flat" cmpd="sng" algn="ctr">
                      <a:noFill/>
                    </a:lnR>
                    <a:lnT w="0" cap="flat" cmpd="sng" algn="ctr">
                      <a:noFill/>
                    </a:lnT>
                    <a:lnB w="0" cap="flat" cmpd="sng" algn="ctr">
                      <a:noFill/>
                    </a:lnB>
                    <a:solidFill>
                      <a:srgbClr val="EDF0F3"/>
                    </a:solidFill>
                  </a:tcPr>
                </a:tc>
              </a:tr>
              <a:tr h="530352">
                <a:tc>
                  <a:txBody>
                    <a:bodyPr/>
                    <a:lstStyle/>
                    <a:p>
                      <a:pPr indent="0" marL="0">
                        <a:buNone/>
                      </a:pPr>
                      <a:r>
                        <a:rPr lang="en-US" sz="1600" b="1" dirty="0">
                          <a:solidFill>
                            <a:schemeClr val="tx1"/>
                          </a:solidFill>
                        </a:rPr>
                        <a:t>Target</a:t>
                      </a:r>
                      <a:endParaRPr lang="en-US" sz="1600" dirty="0"/>
                    </a:p>
                  </a:txBody>
                  <a:tcPr marL="137160" marR="13716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600" dirty="0">
                          <a:solidFill>
                            <a:schemeClr val="tx1"/>
                          </a:solidFill>
                        </a:rPr>
                        <a:t>Total_Medals won by the country at those Games</a:t>
                      </a:r>
                      <a:endParaRPr lang="en-US" sz="1600" dirty="0"/>
                    </a:p>
                  </a:txBody>
                  <a:tcPr marL="137160" marR="137160" marT="0" marB="0" anchor="ctr">
                    <a:lnL w="0" cap="flat" cmpd="sng" algn="ctr">
                      <a:noFill/>
                    </a:lnL>
                    <a:lnR w="0" cap="flat" cmpd="sng" algn="ctr">
                      <a:noFill/>
                    </a:lnR>
                    <a:lnT w="0" cap="flat" cmpd="sng" algn="ctr">
                      <a:noFill/>
                    </a:lnT>
                    <a:lnB w="0" cap="flat" cmpd="sng" algn="ctr">
                      <a:noFill/>
                    </a:lnB>
                    <a:solidFill>
                      <a:srgbClr val="FFFFFF"/>
                    </a:solidFill>
                  </a:tcPr>
                </a:tc>
              </a:tr>
              <a:tr h="530352">
                <a:tc>
                  <a:txBody>
                    <a:bodyPr/>
                    <a:lstStyle/>
                    <a:p>
                      <a:pPr indent="0" marL="0">
                        <a:buNone/>
                      </a:pPr>
                      <a:r>
                        <a:rPr lang="en-US" sz="1600" b="1" dirty="0">
                          <a:solidFill>
                            <a:schemeClr val="tx1"/>
                          </a:solidFill>
                        </a:rPr>
                        <a:t>World Bank</a:t>
                      </a:r>
                      <a:endParaRPr lang="en-US" sz="1600" dirty="0"/>
                    </a:p>
                  </a:txBody>
                  <a:tcPr marL="137160" marR="137160" marT="0" marB="0" anchor="ctr">
                    <a:lnL w="0" cap="flat" cmpd="sng" algn="ctr">
                      <a:noFill/>
                    </a:lnL>
                    <a:lnR w="0" cap="flat" cmpd="sng" algn="ctr">
                      <a:noFill/>
                    </a:lnR>
                    <a:lnT w="0" cap="flat" cmpd="sng" algn="ctr">
                      <a:noFill/>
                    </a:lnT>
                    <a:lnB w="0" cap="flat" cmpd="sng" algn="ctr">
                      <a:noFill/>
                    </a:lnB>
                    <a:solidFill>
                      <a:srgbClr val="EDF0F3"/>
                    </a:solidFill>
                  </a:tcPr>
                </a:tc>
                <a:tc>
                  <a:txBody>
                    <a:bodyPr/>
                    <a:lstStyle/>
                    <a:p>
                      <a:pPr indent="0" marL="0">
                        <a:buNone/>
                      </a:pPr>
                      <a:r>
                        <a:rPr lang="en-US" sz="1600" dirty="0">
                          <a:solidFill>
                            <a:schemeClr val="tx1"/>
                          </a:solidFill>
                        </a:rPr>
                        <a:t>Six WDI series from the paper (GDP, GDP per capita, growth, population, land area), year before each Games</a:t>
                      </a:r>
                      <a:endParaRPr lang="en-US" sz="1600" dirty="0"/>
                    </a:p>
                  </a:txBody>
                  <a:tcPr marL="137160" marR="137160" marT="0" marB="0" anchor="ctr">
                    <a:lnL w="0" cap="flat" cmpd="sng" algn="ctr">
                      <a:noFill/>
                    </a:lnL>
                    <a:lnR w="0" cap="flat" cmpd="sng" algn="ctr">
                      <a:noFill/>
                    </a:lnR>
                    <a:lnT w="0" cap="flat" cmpd="sng" algn="ctr">
                      <a:noFill/>
                    </a:lnT>
                    <a:lnB w="0" cap="flat" cmpd="sng" algn="ctr">
                      <a:noFill/>
                    </a:lnB>
                    <a:solidFill>
                      <a:srgbClr val="EDF0F3"/>
                    </a:solidFill>
                  </a:tcPr>
                </a:tc>
              </a:tr>
              <a:tr h="530352">
                <a:tc>
                  <a:txBody>
                    <a:bodyPr/>
                    <a:lstStyle/>
                    <a:p>
                      <a:pPr indent="0" marL="0">
                        <a:buNone/>
                      </a:pPr>
                      <a:r>
                        <a:rPr lang="en-US" sz="1600" b="1" dirty="0">
                          <a:solidFill>
                            <a:schemeClr val="tx1"/>
                          </a:solidFill>
                        </a:rPr>
                        <a:t>Extra check</a:t>
                      </a:r>
                      <a:endParaRPr lang="en-US" sz="1600" dirty="0"/>
                    </a:p>
                  </a:txBody>
                  <a:tcPr marL="137160" marR="13716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600" dirty="0">
                          <a:solidFill>
                            <a:schemeClr val="tx1"/>
                          </a:solidFill>
                        </a:rPr>
                        <a:t>Real Tokyo 2020 medal table, used only to score our 2020 forecast</a:t>
                      </a:r>
                      <a:endParaRPr lang="en-US" sz="1600" dirty="0"/>
                    </a:p>
                  </a:txBody>
                  <a:tcPr marL="137160" marR="137160"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chemeClr val="tx1"/>
                </a:solidFill>
              </a:rPr>
              <a:t>Reference paper vs our approach</a:t>
            </a:r>
            <a:endParaRPr lang="en-US" sz="3400" dirty="0"/>
          </a:p>
        </p:txBody>
      </p:sp>
      <p:sp>
        <p:nvSpPr>
          <p:cNvPr id="4" name="Reference paper (Dobkowski) card"/>
          <p:cNvSpPr/>
          <p:nvPr/>
        </p:nvSpPr>
        <p:spPr>
          <a:xfrm>
            <a:off x="548640" y="1417320"/>
            <a:ext cx="5349240" cy="4572000"/>
          </a:xfrm>
          <a:prstGeom prst="roundRect">
            <a:avLst>
              <a:gd name="adj" fmla="val 2400"/>
            </a:avLst>
          </a:prstGeom>
          <a:solidFill>
            <a:srgbClr val="EDF0F3"/>
          </a:solidFill>
          <a:ln w="12700">
            <a:solidFill>
              <a:srgbClr val="D3DAE3"/>
            </a:solidFill>
            <a:prstDash val="solid"/>
          </a:ln>
        </p:spPr>
      </p:sp>
      <p:sp>
        <p:nvSpPr>
          <p:cNvPr id="5" name="Medal disc"/>
          <p:cNvSpPr/>
          <p:nvPr/>
        </p:nvSpPr>
        <p:spPr>
          <a:xfrm>
            <a:off x="868680" y="1709928"/>
            <a:ext cx="292608" cy="292608"/>
          </a:xfrm>
          <a:prstGeom prst="ellipse">
            <a:avLst/>
          </a:prstGeom>
          <a:solidFill>
            <a:srgbClr val="8F99A9"/>
          </a:solidFill>
          <a:ln w="12700">
            <a:solidFill>
              <a:srgbClr val="8F99A9"/>
            </a:solidFill>
            <a:prstDash val="solid"/>
          </a:ln>
        </p:spPr>
      </p:sp>
      <p:sp>
        <p:nvSpPr>
          <p:cNvPr id="6" name="Text 3"/>
          <p:cNvSpPr txBox="1"/>
          <p:nvPr/>
        </p:nvSpPr>
        <p:spPr>
          <a:xfrm>
            <a:off x="1325880" y="1645920"/>
            <a:ext cx="4389120" cy="457200"/>
          </a:xfrm>
          <a:prstGeom prst="rect">
            <a:avLst/>
          </a:prstGeom>
          <a:noFill/>
          <a:ln/>
        </p:spPr>
        <p:txBody>
          <a:bodyPr wrap="square" lIns="0" tIns="0" rIns="0" bIns="0" rtlCol="0" anchor="t"/>
          <a:lstStyle/>
          <a:p>
            <a:pPr indent="0" marL="0">
              <a:buNone/>
            </a:pPr>
            <a:r>
              <a:rPr lang="en-US" sz="2200" b="1" dirty="0">
                <a:solidFill>
                  <a:schemeClr val="tx1"/>
                </a:solidFill>
              </a:rPr>
              <a:t>Reference paper (Dobkowski)</a:t>
            </a:r>
            <a:endParaRPr lang="en-US" sz="2200" dirty="0"/>
          </a:p>
        </p:txBody>
      </p:sp>
      <p:sp>
        <p:nvSpPr>
          <p:cNvPr id="7" name="Text 4"/>
          <p:cNvSpPr txBox="1"/>
          <p:nvPr/>
        </p:nvSpPr>
        <p:spPr>
          <a:xfrm>
            <a:off x="868680" y="2377440"/>
            <a:ext cx="4754880" cy="3383280"/>
          </a:xfrm>
          <a:prstGeom prst="rect">
            <a:avLst/>
          </a:prstGeom>
          <a:noFill/>
          <a:ln/>
        </p:spPr>
        <p:txBody>
          <a:bodyPr wrap="square" lIns="0" tIns="0" rIns="0" bIns="0" rtlCol="0" anchor="t"/>
          <a:lstStyle/>
          <a:p>
            <a:pPr marL="342900" indent="-342900">
              <a:spcAft>
                <a:spcPts val="1200"/>
              </a:spcAft>
              <a:buSzPct val="100000"/>
              <a:buChar char="•"/>
            </a:pPr>
            <a:r>
              <a:rPr lang="en-US" sz="1700" dirty="0">
                <a:solidFill>
                  <a:schemeClr val="tx1"/>
                </a:solidFill>
              </a:rPr>
              <a:t>World Bank GDP, population and land area merged with medals</a:t>
            </a:r>
            <a:endParaRPr lang="en-US" sz="1700" dirty="0"/>
          </a:p>
          <a:p>
            <a:pPr marL="342900" indent="-342900">
              <a:spcAft>
                <a:spcPts val="1200"/>
              </a:spcAft>
              <a:buSzPct val="100000"/>
              <a:buChar char="•"/>
            </a:pPr>
            <a:r>
              <a:rPr lang="en-US" sz="1700" dirty="0">
                <a:solidFill>
                  <a:schemeClr val="tx1"/>
                </a:solidFill>
              </a:rPr>
              <a:t>Two-stage model: medal / no-medal classifier, then a regressor</a:t>
            </a:r>
            <a:endParaRPr lang="en-US" sz="1700" dirty="0"/>
          </a:p>
          <a:p>
            <a:pPr marL="342900" indent="-342900">
              <a:spcAft>
                <a:spcPts val="1200"/>
              </a:spcAft>
              <a:buSzPct val="100000"/>
              <a:buChar char="•"/>
            </a:pPr>
            <a:r>
              <a:rPr lang="en-US" sz="1700" dirty="0">
                <a:solidFill>
                  <a:schemeClr val="tx1"/>
                </a:solidFill>
              </a:rPr>
              <a:t>Tuned on 1988–2008, validated on 2012, tested on 2016</a:t>
            </a:r>
            <a:endParaRPr lang="en-US" sz="1700" dirty="0"/>
          </a:p>
          <a:p>
            <a:pPr marL="342900" indent="-342900">
              <a:spcAft>
                <a:spcPts val="1200"/>
              </a:spcAft>
              <a:buSzPct val="100000"/>
              <a:buChar char="•"/>
            </a:pPr>
            <a:r>
              <a:rPr lang="en-US" sz="1700" dirty="0">
                <a:solidFill>
                  <a:schemeClr val="tx1"/>
                </a:solidFill>
              </a:rPr>
              <a:t>Single 2016 test, average-std-dev error metric</a:t>
            </a:r>
            <a:endParaRPr lang="en-US" sz="1700" dirty="0"/>
          </a:p>
        </p:txBody>
      </p:sp>
      <p:sp>
        <p:nvSpPr>
          <p:cNvPr id="8" name="Our project card"/>
          <p:cNvSpPr/>
          <p:nvPr/>
        </p:nvSpPr>
        <p:spPr>
          <a:xfrm>
            <a:off x="6263640" y="1417320"/>
            <a:ext cx="5349240" cy="4572000"/>
          </a:xfrm>
          <a:prstGeom prst="roundRect">
            <a:avLst>
              <a:gd name="adj" fmla="val 2400"/>
            </a:avLst>
          </a:prstGeom>
          <a:solidFill>
            <a:srgbClr val="FBF6EC"/>
          </a:solidFill>
          <a:ln w="12700">
            <a:solidFill>
              <a:srgbClr val="EBD9B0"/>
            </a:solidFill>
            <a:prstDash val="solid"/>
          </a:ln>
        </p:spPr>
      </p:sp>
      <p:sp>
        <p:nvSpPr>
          <p:cNvPr id="9" name="Medal disc"/>
          <p:cNvSpPr/>
          <p:nvPr/>
        </p:nvSpPr>
        <p:spPr>
          <a:xfrm>
            <a:off x="6583680" y="1709928"/>
            <a:ext cx="292608" cy="292608"/>
          </a:xfrm>
          <a:prstGeom prst="ellipse">
            <a:avLst/>
          </a:prstGeom>
          <a:solidFill>
            <a:srgbClr val="C8962E"/>
          </a:solidFill>
          <a:ln w="12700">
            <a:solidFill>
              <a:srgbClr val="C8962E"/>
            </a:solidFill>
            <a:prstDash val="solid"/>
          </a:ln>
        </p:spPr>
      </p:sp>
      <p:sp>
        <p:nvSpPr>
          <p:cNvPr id="10" name="Text 7"/>
          <p:cNvSpPr txBox="1"/>
          <p:nvPr/>
        </p:nvSpPr>
        <p:spPr>
          <a:xfrm>
            <a:off x="7040880" y="1645920"/>
            <a:ext cx="4389120" cy="457200"/>
          </a:xfrm>
          <a:prstGeom prst="rect">
            <a:avLst/>
          </a:prstGeom>
          <a:noFill/>
          <a:ln/>
        </p:spPr>
        <p:txBody>
          <a:bodyPr wrap="square" lIns="0" tIns="0" rIns="0" bIns="0" rtlCol="0" anchor="t"/>
          <a:lstStyle/>
          <a:p>
            <a:pPr indent="0" marL="0">
              <a:buNone/>
            </a:pPr>
            <a:r>
              <a:rPr lang="en-US" sz="2200" b="1" dirty="0">
                <a:solidFill>
                  <a:schemeClr val="tx1"/>
                </a:solidFill>
              </a:rPr>
              <a:t>Our project</a:t>
            </a:r>
            <a:endParaRPr lang="en-US" sz="2200" dirty="0"/>
          </a:p>
        </p:txBody>
      </p:sp>
      <p:sp>
        <p:nvSpPr>
          <p:cNvPr id="11" name="Text 8"/>
          <p:cNvSpPr txBox="1"/>
          <p:nvPr/>
        </p:nvSpPr>
        <p:spPr>
          <a:xfrm>
            <a:off x="6583680" y="2377440"/>
            <a:ext cx="4754880" cy="3383280"/>
          </a:xfrm>
          <a:prstGeom prst="rect">
            <a:avLst/>
          </a:prstGeom>
          <a:noFill/>
          <a:ln/>
        </p:spPr>
        <p:txBody>
          <a:bodyPr wrap="square" lIns="0" tIns="0" rIns="0" bIns="0" rtlCol="0" anchor="t"/>
          <a:lstStyle/>
          <a:p>
            <a:pPr marL="342900" indent="-342900">
              <a:spcAft>
                <a:spcPts val="1200"/>
              </a:spcAft>
              <a:buSzPct val="100000"/>
              <a:buChar char="•"/>
            </a:pPr>
            <a:r>
              <a:rPr lang="en-US" sz="1700" dirty="0">
                <a:solidFill>
                  <a:schemeClr val="tx1"/>
                </a:solidFill>
              </a:rPr>
              <a:t>Same World Bank indicators, plus Olympic history, all from before the Games</a:t>
            </a:r>
            <a:endParaRPr lang="en-US" sz="1700" dirty="0"/>
          </a:p>
          <a:p>
            <a:pPr marL="342900" indent="-342900">
              <a:spcAft>
                <a:spcPts val="1200"/>
              </a:spcAft>
              <a:buSzPct val="100000"/>
              <a:buChar char="•"/>
            </a:pPr>
            <a:r>
              <a:rPr lang="en-US" sz="1700" dirty="0">
                <a:solidFill>
                  <a:schemeClr val="tx1"/>
                </a:solidFill>
              </a:rPr>
              <a:t>Same Random Forest for all eight models; the paper's model types re-run too</a:t>
            </a:r>
            <a:endParaRPr lang="en-US" sz="1700" dirty="0"/>
          </a:p>
          <a:p>
            <a:pPr marL="342900" indent="-342900">
              <a:spcAft>
                <a:spcPts val="1200"/>
              </a:spcAft>
              <a:buSzPct val="100000"/>
              <a:buChar char="•"/>
            </a:pPr>
            <a:r>
              <a:rPr lang="en-US" sz="1700" dirty="0">
                <a:solidFill>
                  <a:schemeClr val="tx1"/>
                </a:solidFill>
              </a:rPr>
              <a:t>Proposed: predict momentum (log change) instead of the count</a:t>
            </a:r>
            <a:endParaRPr lang="en-US" sz="1700" dirty="0"/>
          </a:p>
          <a:p>
            <a:pPr marL="342900" indent="-342900">
              <a:spcAft>
                <a:spcPts val="1200"/>
              </a:spcAft>
              <a:buSzPct val="100000"/>
              <a:buChar char="•"/>
            </a:pPr>
            <a:r>
              <a:rPr lang="en-US" sz="1700" dirty="0">
                <a:solidFill>
                  <a:schemeClr val="tx1"/>
                </a:solidFill>
              </a:rPr>
              <a:t>Rio 2016 test, six-Games backtest, bootstrap test, real Tokyo 2020 forecast</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chemeClr val="tx1"/>
                </a:solidFill>
              </a:rPr>
              <a:t>Pipeline: every step looks back, never forward</a:t>
            </a:r>
            <a:endParaRPr lang="en-US" sz="3400" dirty="0"/>
          </a:p>
        </p:txBody>
      </p:sp>
      <p:sp>
        <p:nvSpPr>
          <p:cNvPr id="4" name="Step 1"/>
          <p:cNvSpPr/>
          <p:nvPr/>
        </p:nvSpPr>
        <p:spPr>
          <a:xfrm>
            <a:off x="548640" y="2011680"/>
            <a:ext cx="2057400" cy="2651760"/>
          </a:xfrm>
          <a:prstGeom prst="roundRect">
            <a:avLst>
              <a:gd name="adj" fmla="val 5333"/>
            </a:avLst>
          </a:prstGeom>
          <a:solidFill>
            <a:srgbClr val="EDF0F3"/>
          </a:solidFill>
          <a:ln w="12700">
            <a:solidFill>
              <a:srgbClr val="EDF0F3"/>
            </a:solidFill>
            <a:prstDash val="solid"/>
          </a:ln>
        </p:spPr>
      </p:sp>
      <p:sp>
        <p:nvSpPr>
          <p:cNvPr id="5" name="Text 2"/>
          <p:cNvSpPr txBox="1"/>
          <p:nvPr/>
        </p:nvSpPr>
        <p:spPr>
          <a:xfrm>
            <a:off x="777240" y="2194560"/>
            <a:ext cx="914400" cy="731520"/>
          </a:xfrm>
          <a:prstGeom prst="rect">
            <a:avLst/>
          </a:prstGeom>
          <a:noFill/>
          <a:ln/>
        </p:spPr>
        <p:txBody>
          <a:bodyPr wrap="square" lIns="0" tIns="0" rIns="0" bIns="0" rtlCol="0" anchor="t"/>
          <a:lstStyle/>
          <a:p>
            <a:pPr indent="0" marL="0">
              <a:buNone/>
            </a:pPr>
            <a:r>
              <a:rPr lang="en-US" sz="4000" b="1" dirty="0">
                <a:solidFill>
                  <a:srgbClr val="2E5A88"/>
                </a:solidFill>
              </a:rPr>
              <a:t>1</a:t>
            </a:r>
            <a:endParaRPr lang="en-US" sz="4000" dirty="0"/>
          </a:p>
        </p:txBody>
      </p:sp>
      <p:sp>
        <p:nvSpPr>
          <p:cNvPr id="6" name="Text 3"/>
          <p:cNvSpPr txBox="1"/>
          <p:nvPr/>
        </p:nvSpPr>
        <p:spPr>
          <a:xfrm>
            <a:off x="777240" y="2971800"/>
            <a:ext cx="1645920" cy="685800"/>
          </a:xfrm>
          <a:prstGeom prst="rect">
            <a:avLst/>
          </a:prstGeom>
          <a:noFill/>
          <a:ln/>
        </p:spPr>
        <p:txBody>
          <a:bodyPr wrap="square" lIns="0" tIns="0" rIns="0" bIns="0" rtlCol="0" anchor="t"/>
          <a:lstStyle/>
          <a:p>
            <a:pPr indent="0" marL="0">
              <a:buNone/>
            </a:pPr>
            <a:r>
              <a:rPr lang="en-US" sz="1900" b="1" dirty="0">
                <a:solidFill>
                  <a:schemeClr val="tx1"/>
                </a:solidFill>
              </a:rPr>
              <a:t>Clean</a:t>
            </a:r>
            <a:endParaRPr lang="en-US" sz="1900" dirty="0"/>
          </a:p>
        </p:txBody>
      </p:sp>
      <p:sp>
        <p:nvSpPr>
          <p:cNvPr id="7" name="Text 4"/>
          <p:cNvSpPr txBox="1"/>
          <p:nvPr/>
        </p:nvSpPr>
        <p:spPr>
          <a:xfrm>
            <a:off x="777240" y="3703320"/>
            <a:ext cx="1645920" cy="868680"/>
          </a:xfrm>
          <a:prstGeom prst="rect">
            <a:avLst/>
          </a:prstGeom>
          <a:noFill/>
          <a:ln/>
        </p:spPr>
        <p:txBody>
          <a:bodyPr wrap="square" lIns="0" tIns="0" rIns="0" bIns="0" rtlCol="0" anchor="t"/>
          <a:lstStyle/>
          <a:p>
            <a:pPr indent="0" marL="0">
              <a:buNone/>
            </a:pPr>
            <a:r>
              <a:rPr lang="en-US" sz="1500" dirty="0">
                <a:solidFill>
                  <a:schemeClr val="accent6"/>
                </a:solidFill>
              </a:rPr>
              <a:t>Summer Games, one medal per team event</a:t>
            </a:r>
            <a:endParaRPr lang="en-US" sz="1500" dirty="0"/>
          </a:p>
        </p:txBody>
      </p:sp>
      <p:sp>
        <p:nvSpPr>
          <p:cNvPr id="8" name="Step 2"/>
          <p:cNvSpPr/>
          <p:nvPr/>
        </p:nvSpPr>
        <p:spPr>
          <a:xfrm>
            <a:off x="2798064" y="2011680"/>
            <a:ext cx="2057400" cy="2651760"/>
          </a:xfrm>
          <a:prstGeom prst="roundRect">
            <a:avLst>
              <a:gd name="adj" fmla="val 5333"/>
            </a:avLst>
          </a:prstGeom>
          <a:solidFill>
            <a:srgbClr val="EDF0F3"/>
          </a:solidFill>
          <a:ln w="12700">
            <a:solidFill>
              <a:srgbClr val="EDF0F3"/>
            </a:solidFill>
            <a:prstDash val="solid"/>
          </a:ln>
        </p:spPr>
      </p:sp>
      <p:sp>
        <p:nvSpPr>
          <p:cNvPr id="9" name="Text 6"/>
          <p:cNvSpPr txBox="1"/>
          <p:nvPr/>
        </p:nvSpPr>
        <p:spPr>
          <a:xfrm>
            <a:off x="3026664" y="2194560"/>
            <a:ext cx="914400" cy="731520"/>
          </a:xfrm>
          <a:prstGeom prst="rect">
            <a:avLst/>
          </a:prstGeom>
          <a:noFill/>
          <a:ln/>
        </p:spPr>
        <p:txBody>
          <a:bodyPr wrap="square" lIns="0" tIns="0" rIns="0" bIns="0" rtlCol="0" anchor="t"/>
          <a:lstStyle/>
          <a:p>
            <a:pPr indent="0" marL="0">
              <a:buNone/>
            </a:pPr>
            <a:r>
              <a:rPr lang="en-US" sz="4000" b="1" dirty="0">
                <a:solidFill>
                  <a:srgbClr val="2E5A88"/>
                </a:solidFill>
              </a:rPr>
              <a:t>2</a:t>
            </a:r>
            <a:endParaRPr lang="en-US" sz="4000" dirty="0"/>
          </a:p>
        </p:txBody>
      </p:sp>
      <p:sp>
        <p:nvSpPr>
          <p:cNvPr id="10" name="Text 7"/>
          <p:cNvSpPr txBox="1"/>
          <p:nvPr/>
        </p:nvSpPr>
        <p:spPr>
          <a:xfrm>
            <a:off x="3026664" y="2971800"/>
            <a:ext cx="1645920" cy="685800"/>
          </a:xfrm>
          <a:prstGeom prst="rect">
            <a:avLst/>
          </a:prstGeom>
          <a:noFill/>
          <a:ln/>
        </p:spPr>
        <p:txBody>
          <a:bodyPr wrap="square" lIns="0" tIns="0" rIns="0" bIns="0" rtlCol="0" anchor="t"/>
          <a:lstStyle/>
          <a:p>
            <a:pPr indent="0" marL="0">
              <a:buNone/>
            </a:pPr>
            <a:r>
              <a:rPr lang="en-US" sz="1900" b="1" dirty="0">
                <a:solidFill>
                  <a:schemeClr val="tx1"/>
                </a:solidFill>
              </a:rPr>
              <a:t>Aggregate</a:t>
            </a:r>
            <a:endParaRPr lang="en-US" sz="1900" dirty="0"/>
          </a:p>
        </p:txBody>
      </p:sp>
      <p:sp>
        <p:nvSpPr>
          <p:cNvPr id="11" name="Text 8"/>
          <p:cNvSpPr txBox="1"/>
          <p:nvPr/>
        </p:nvSpPr>
        <p:spPr>
          <a:xfrm>
            <a:off x="3026664" y="3703320"/>
            <a:ext cx="1645920" cy="868680"/>
          </a:xfrm>
          <a:prstGeom prst="rect">
            <a:avLst/>
          </a:prstGeom>
          <a:noFill/>
          <a:ln/>
        </p:spPr>
        <p:txBody>
          <a:bodyPr wrap="square" lIns="0" tIns="0" rIns="0" bIns="0" rtlCol="0" anchor="t"/>
          <a:lstStyle/>
          <a:p>
            <a:pPr indent="0" marL="0">
              <a:buNone/>
            </a:pPr>
            <a:r>
              <a:rPr lang="en-US" sz="1500" dirty="0">
                <a:solidFill>
                  <a:schemeClr val="accent6"/>
                </a:solidFill>
              </a:rPr>
              <a:t>One row per Country × Games</a:t>
            </a:r>
            <a:endParaRPr lang="en-US" sz="1500" dirty="0"/>
          </a:p>
        </p:txBody>
      </p:sp>
      <p:sp>
        <p:nvSpPr>
          <p:cNvPr id="12" name="Step 3"/>
          <p:cNvSpPr/>
          <p:nvPr/>
        </p:nvSpPr>
        <p:spPr>
          <a:xfrm>
            <a:off x="5047488" y="2011680"/>
            <a:ext cx="2057400" cy="2651760"/>
          </a:xfrm>
          <a:prstGeom prst="roundRect">
            <a:avLst>
              <a:gd name="adj" fmla="val 5333"/>
            </a:avLst>
          </a:prstGeom>
          <a:solidFill>
            <a:srgbClr val="EDF0F3"/>
          </a:solidFill>
          <a:ln w="12700">
            <a:solidFill>
              <a:srgbClr val="EDF0F3"/>
            </a:solidFill>
            <a:prstDash val="solid"/>
          </a:ln>
        </p:spPr>
      </p:sp>
      <p:sp>
        <p:nvSpPr>
          <p:cNvPr id="13" name="Text 10"/>
          <p:cNvSpPr txBox="1"/>
          <p:nvPr/>
        </p:nvSpPr>
        <p:spPr>
          <a:xfrm>
            <a:off x="5276088" y="2194560"/>
            <a:ext cx="914400" cy="731520"/>
          </a:xfrm>
          <a:prstGeom prst="rect">
            <a:avLst/>
          </a:prstGeom>
          <a:noFill/>
          <a:ln/>
        </p:spPr>
        <p:txBody>
          <a:bodyPr wrap="square" lIns="0" tIns="0" rIns="0" bIns="0" rtlCol="0" anchor="t"/>
          <a:lstStyle/>
          <a:p>
            <a:pPr indent="0" marL="0">
              <a:buNone/>
            </a:pPr>
            <a:r>
              <a:rPr lang="en-US" sz="4000" b="1" dirty="0">
                <a:solidFill>
                  <a:srgbClr val="2E5A88"/>
                </a:solidFill>
              </a:rPr>
              <a:t>3</a:t>
            </a:r>
            <a:endParaRPr lang="en-US" sz="4000" dirty="0"/>
          </a:p>
        </p:txBody>
      </p:sp>
      <p:sp>
        <p:nvSpPr>
          <p:cNvPr id="14" name="Text 11"/>
          <p:cNvSpPr txBox="1"/>
          <p:nvPr/>
        </p:nvSpPr>
        <p:spPr>
          <a:xfrm>
            <a:off x="5276088" y="2971800"/>
            <a:ext cx="1645920" cy="685800"/>
          </a:xfrm>
          <a:prstGeom prst="rect">
            <a:avLst/>
          </a:prstGeom>
          <a:noFill/>
          <a:ln/>
        </p:spPr>
        <p:txBody>
          <a:bodyPr wrap="square" lIns="0" tIns="0" rIns="0" bIns="0" rtlCol="0" anchor="t"/>
          <a:lstStyle/>
          <a:p>
            <a:pPr indent="0" marL="0">
              <a:buNone/>
            </a:pPr>
            <a:r>
              <a:rPr lang="en-US" sz="1900" b="1" dirty="0">
                <a:solidFill>
                  <a:schemeClr val="tx1"/>
                </a:solidFill>
              </a:rPr>
              <a:t>Lag</a:t>
            </a:r>
            <a:endParaRPr lang="en-US" sz="1900" dirty="0"/>
          </a:p>
        </p:txBody>
      </p:sp>
      <p:sp>
        <p:nvSpPr>
          <p:cNvPr id="15" name="Text 12"/>
          <p:cNvSpPr txBox="1"/>
          <p:nvPr/>
        </p:nvSpPr>
        <p:spPr>
          <a:xfrm>
            <a:off x="5276088" y="3703320"/>
            <a:ext cx="1645920" cy="868680"/>
          </a:xfrm>
          <a:prstGeom prst="rect">
            <a:avLst/>
          </a:prstGeom>
          <a:noFill/>
          <a:ln/>
        </p:spPr>
        <p:txBody>
          <a:bodyPr wrap="square" lIns="0" tIns="0" rIns="0" bIns="0" rtlCol="0" anchor="t"/>
          <a:lstStyle/>
          <a:p>
            <a:pPr indent="0" marL="0">
              <a:buNone/>
            </a:pPr>
            <a:r>
              <a:rPr lang="en-US" sz="1500" dirty="0">
                <a:solidFill>
                  <a:schemeClr val="accent6"/>
                </a:solidFill>
              </a:rPr>
              <a:t>Nine features from earlier Games only</a:t>
            </a:r>
            <a:endParaRPr lang="en-US" sz="1500" dirty="0"/>
          </a:p>
        </p:txBody>
      </p:sp>
      <p:sp>
        <p:nvSpPr>
          <p:cNvPr id="16" name="Step 4"/>
          <p:cNvSpPr/>
          <p:nvPr/>
        </p:nvSpPr>
        <p:spPr>
          <a:xfrm>
            <a:off x="7296912" y="2011680"/>
            <a:ext cx="2057400" cy="2651760"/>
          </a:xfrm>
          <a:prstGeom prst="roundRect">
            <a:avLst>
              <a:gd name="adj" fmla="val 5333"/>
            </a:avLst>
          </a:prstGeom>
          <a:solidFill>
            <a:srgbClr val="2E5A88"/>
          </a:solidFill>
          <a:ln w="12700">
            <a:solidFill>
              <a:srgbClr val="2E5A88"/>
            </a:solidFill>
            <a:prstDash val="solid"/>
          </a:ln>
        </p:spPr>
      </p:sp>
      <p:sp>
        <p:nvSpPr>
          <p:cNvPr id="17" name="Text 14"/>
          <p:cNvSpPr txBox="1"/>
          <p:nvPr/>
        </p:nvSpPr>
        <p:spPr>
          <a:xfrm>
            <a:off x="7525512" y="2194560"/>
            <a:ext cx="914400" cy="731520"/>
          </a:xfrm>
          <a:prstGeom prst="rect">
            <a:avLst/>
          </a:prstGeom>
          <a:noFill/>
          <a:ln/>
        </p:spPr>
        <p:txBody>
          <a:bodyPr wrap="square" lIns="0" tIns="0" rIns="0" bIns="0" rtlCol="0" anchor="t"/>
          <a:lstStyle/>
          <a:p>
            <a:pPr indent="0" marL="0">
              <a:buNone/>
            </a:pPr>
            <a:r>
              <a:rPr lang="en-US" sz="4000" b="1" dirty="0">
                <a:solidFill>
                  <a:srgbClr val="E7D3A6"/>
                </a:solidFill>
              </a:rPr>
              <a:t>4</a:t>
            </a:r>
            <a:endParaRPr lang="en-US" sz="4000" dirty="0"/>
          </a:p>
        </p:txBody>
      </p:sp>
      <p:sp>
        <p:nvSpPr>
          <p:cNvPr id="18" name="Text 15"/>
          <p:cNvSpPr txBox="1"/>
          <p:nvPr/>
        </p:nvSpPr>
        <p:spPr>
          <a:xfrm>
            <a:off x="7525512" y="2971800"/>
            <a:ext cx="1645920" cy="685800"/>
          </a:xfrm>
          <a:prstGeom prst="rect">
            <a:avLst/>
          </a:prstGeom>
          <a:noFill/>
          <a:ln/>
        </p:spPr>
        <p:txBody>
          <a:bodyPr wrap="square" lIns="0" tIns="0" rIns="0" bIns="0" rtlCol="0" anchor="t"/>
          <a:lstStyle/>
          <a:p>
            <a:pPr indent="0" marL="0">
              <a:buNone/>
            </a:pPr>
            <a:r>
              <a:rPr lang="en-US" sz="1900" b="1" dirty="0">
                <a:solidFill>
                  <a:schemeClr val="bg1"/>
                </a:solidFill>
              </a:rPr>
              <a:t>Learn momentum</a:t>
            </a:r>
            <a:endParaRPr lang="en-US" sz="1900" dirty="0"/>
          </a:p>
        </p:txBody>
      </p:sp>
      <p:sp>
        <p:nvSpPr>
          <p:cNvPr id="19" name="Text 16"/>
          <p:cNvSpPr txBox="1"/>
          <p:nvPr/>
        </p:nvSpPr>
        <p:spPr>
          <a:xfrm>
            <a:off x="7525512" y="3703320"/>
            <a:ext cx="1645920" cy="868680"/>
          </a:xfrm>
          <a:prstGeom prst="rect">
            <a:avLst/>
          </a:prstGeom>
          <a:noFill/>
          <a:ln/>
        </p:spPr>
        <p:txBody>
          <a:bodyPr wrap="square" lIns="0" tIns="0" rIns="0" bIns="0" rtlCol="0" anchor="t"/>
          <a:lstStyle/>
          <a:p>
            <a:pPr indent="0" marL="0">
              <a:buNone/>
            </a:pPr>
            <a:r>
              <a:rPr lang="en-US" sz="1500" dirty="0">
                <a:solidFill>
                  <a:srgbClr val="DCE5F0"/>
                </a:solidFill>
              </a:rPr>
              <a:t>Forest predicts change in log medals</a:t>
            </a:r>
            <a:endParaRPr lang="en-US" sz="1500" dirty="0"/>
          </a:p>
        </p:txBody>
      </p:sp>
      <p:sp>
        <p:nvSpPr>
          <p:cNvPr id="20" name="Step 5"/>
          <p:cNvSpPr/>
          <p:nvPr/>
        </p:nvSpPr>
        <p:spPr>
          <a:xfrm>
            <a:off x="9546336" y="2011680"/>
            <a:ext cx="2057400" cy="2651760"/>
          </a:xfrm>
          <a:prstGeom prst="roundRect">
            <a:avLst>
              <a:gd name="adj" fmla="val 5333"/>
            </a:avLst>
          </a:prstGeom>
          <a:solidFill>
            <a:srgbClr val="EDF0F3"/>
          </a:solidFill>
          <a:ln w="12700">
            <a:solidFill>
              <a:srgbClr val="EDF0F3"/>
            </a:solidFill>
            <a:prstDash val="solid"/>
          </a:ln>
        </p:spPr>
      </p:sp>
      <p:sp>
        <p:nvSpPr>
          <p:cNvPr id="21" name="Text 18"/>
          <p:cNvSpPr txBox="1"/>
          <p:nvPr/>
        </p:nvSpPr>
        <p:spPr>
          <a:xfrm>
            <a:off x="9774936" y="2194560"/>
            <a:ext cx="914400" cy="731520"/>
          </a:xfrm>
          <a:prstGeom prst="rect">
            <a:avLst/>
          </a:prstGeom>
          <a:noFill/>
          <a:ln/>
        </p:spPr>
        <p:txBody>
          <a:bodyPr wrap="square" lIns="0" tIns="0" rIns="0" bIns="0" rtlCol="0" anchor="t"/>
          <a:lstStyle/>
          <a:p>
            <a:pPr indent="0" marL="0">
              <a:buNone/>
            </a:pPr>
            <a:r>
              <a:rPr lang="en-US" sz="4000" b="1" dirty="0">
                <a:solidFill>
                  <a:srgbClr val="2E5A88"/>
                </a:solidFill>
              </a:rPr>
              <a:t>5</a:t>
            </a:r>
            <a:endParaRPr lang="en-US" sz="4000" dirty="0"/>
          </a:p>
        </p:txBody>
      </p:sp>
      <p:sp>
        <p:nvSpPr>
          <p:cNvPr id="22" name="Text 19"/>
          <p:cNvSpPr txBox="1"/>
          <p:nvPr/>
        </p:nvSpPr>
        <p:spPr>
          <a:xfrm>
            <a:off x="9774936" y="2971800"/>
            <a:ext cx="1645920" cy="685800"/>
          </a:xfrm>
          <a:prstGeom prst="rect">
            <a:avLst/>
          </a:prstGeom>
          <a:noFill/>
          <a:ln/>
        </p:spPr>
        <p:txBody>
          <a:bodyPr wrap="square" lIns="0" tIns="0" rIns="0" bIns="0" rtlCol="0" anchor="t"/>
          <a:lstStyle/>
          <a:p>
            <a:pPr indent="0" marL="0">
              <a:buNone/>
            </a:pPr>
            <a:r>
              <a:rPr lang="en-US" sz="1900" b="1" dirty="0">
                <a:solidFill>
                  <a:schemeClr val="tx1"/>
                </a:solidFill>
              </a:rPr>
              <a:t>Test on the future</a:t>
            </a:r>
            <a:endParaRPr lang="en-US" sz="1900" dirty="0"/>
          </a:p>
        </p:txBody>
      </p:sp>
      <p:sp>
        <p:nvSpPr>
          <p:cNvPr id="23" name="Text 20"/>
          <p:cNvSpPr txBox="1"/>
          <p:nvPr/>
        </p:nvSpPr>
        <p:spPr>
          <a:xfrm>
            <a:off x="9774936" y="3703320"/>
            <a:ext cx="1645920" cy="868680"/>
          </a:xfrm>
          <a:prstGeom prst="rect">
            <a:avLst/>
          </a:prstGeom>
          <a:noFill/>
          <a:ln/>
        </p:spPr>
        <p:txBody>
          <a:bodyPr wrap="square" lIns="0" tIns="0" rIns="0" bIns="0" rtlCol="0" anchor="t"/>
          <a:lstStyle/>
          <a:p>
            <a:pPr indent="0" marL="0">
              <a:buNone/>
            </a:pPr>
            <a:r>
              <a:rPr lang="en-US" sz="1500" dirty="0">
                <a:solidFill>
                  <a:schemeClr val="accent6"/>
                </a:solidFill>
              </a:rPr>
              <a:t>Tune 2012, test 2016, forecast 2020</a:t>
            </a:r>
            <a:endParaRPr lang="en-US" sz="1500" dirty="0"/>
          </a:p>
        </p:txBody>
      </p:sp>
      <p:sp>
        <p:nvSpPr>
          <p:cNvPr id="24" name="Text 21"/>
          <p:cNvSpPr txBox="1"/>
          <p:nvPr/>
        </p:nvSpPr>
        <p:spPr>
          <a:xfrm>
            <a:off x="548640" y="5120640"/>
            <a:ext cx="11064240" cy="640080"/>
          </a:xfrm>
          <a:prstGeom prst="rect">
            <a:avLst/>
          </a:prstGeom>
          <a:noFill/>
          <a:ln/>
        </p:spPr>
        <p:txBody>
          <a:bodyPr wrap="square" lIns="0" tIns="0" rIns="0" bIns="0" rtlCol="0" anchor="t"/>
          <a:lstStyle/>
          <a:p>
            <a:pPr indent="0" marL="0">
              <a:buNone/>
            </a:pPr>
            <a:r>
              <a:rPr lang="en-US" sz="1500" dirty="0">
                <a:solidFill>
                  <a:schemeClr val="accent6"/>
                </a:solidFill>
              </a:rPr>
              <a:t>Code: src/olympic_momentum/ (data.py, features.py, models.py, experiment.py). One command reproduces everything: python scripts/run_pipeline.py</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chemeClr val="tx1"/>
                </a:solidFill>
              </a:rPr>
              <a:t>Nine temporal features, all from earlier Games</a:t>
            </a:r>
            <a:endParaRPr lang="en-US" sz="3400" dirty="0"/>
          </a:p>
        </p:txBody>
      </p:sp>
      <p:graphicFrame>
        <p:nvGraphicFramePr>
          <p:cNvPr id="7" name="Feature table"/>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4206240"/>
                <a:gridCol w="6858000"/>
              </a:tblGrid>
              <a:tr h="566928">
                <a:tc>
                  <a:txBody>
                    <a:bodyPr/>
                    <a:lstStyle/>
                    <a:p>
                      <a:pPr indent="0" marL="0">
                        <a:buNone/>
                      </a:pPr>
                      <a:r>
                        <a:rPr lang="en-US" sz="1600" b="1" dirty="0">
                          <a:solidFill>
                            <a:schemeClr val="bg1"/>
                          </a:solidFill>
                        </a:rPr>
                        <a:t>Feature</a:t>
                      </a:r>
                      <a:endParaRPr lang="en-US" sz="1600" dirty="0"/>
                    </a:p>
                  </a:txBody>
                  <a:tcPr marL="137160" marR="137160" marT="0" marB="0" anchor="ctr">
                    <a:lnL w="0" cap="flat" cmpd="sng" algn="ctr">
                      <a:noFill/>
                    </a:lnL>
                    <a:lnR w="0" cap="flat" cmpd="sng" algn="ctr">
                      <a:noFill/>
                    </a:lnR>
                    <a:lnT w="0" cap="flat" cmpd="sng" algn="ctr">
                      <a:noFill/>
                    </a:lnT>
                    <a:lnB w="0" cap="flat" cmpd="sng" algn="ctr">
                      <a:noFill/>
                    </a:lnB>
                    <a:solidFill>
                      <a:srgbClr val="13223A"/>
                    </a:solidFill>
                  </a:tcPr>
                </a:tc>
                <a:tc>
                  <a:txBody>
                    <a:bodyPr/>
                    <a:lstStyle/>
                    <a:p>
                      <a:pPr indent="0" marL="0">
                        <a:buNone/>
                      </a:pPr>
                      <a:r>
                        <a:rPr lang="en-US" sz="1600" b="1" dirty="0">
                          <a:solidFill>
                            <a:schemeClr val="bg1"/>
                          </a:solidFill>
                        </a:rPr>
                        <a:t>Definition (Games t−1, t−2 are earlier appearances)</a:t>
                      </a:r>
                      <a:endParaRPr lang="en-US" sz="1600" dirty="0"/>
                    </a:p>
                  </a:txBody>
                  <a:tcPr marL="137160" marR="137160" marT="0" marB="0" anchor="ctr">
                    <a:lnL w="0" cap="flat" cmpd="sng" algn="ctr">
                      <a:noFill/>
                    </a:lnL>
                    <a:lnR w="0" cap="flat" cmpd="sng" algn="ctr">
                      <a:noFill/>
                    </a:lnR>
                    <a:lnT w="0" cap="flat" cmpd="sng" algn="ctr">
                      <a:noFill/>
                    </a:lnT>
                    <a:lnB w="0" cap="flat" cmpd="sng" algn="ctr">
                      <a:noFill/>
                    </a:lnB>
                    <a:solidFill>
                      <a:srgbClr val="13223A"/>
                    </a:solidFill>
                  </a:tcPr>
                </a:tc>
              </a:tr>
              <a:tr h="566928">
                <a:tc>
                  <a:txBody>
                    <a:bodyPr/>
                    <a:lstStyle/>
                    <a:p>
                      <a:pPr indent="0" marL="0">
                        <a:buNone/>
                      </a:pPr>
                      <a:r>
                        <a:rPr lang="en-US" sz="1600" b="1" dirty="0">
                          <a:solidFill>
                            <a:schemeClr val="tx1"/>
                          </a:solidFill>
                        </a:rPr>
                        <a:t>Previous_Medals / Previous_Gold</a:t>
                      </a:r>
                      <a:endParaRPr lang="en-US" sz="1600" dirty="0"/>
                    </a:p>
                  </a:txBody>
                  <a:tcPr marL="137160" marR="137160" marT="0" marB="0" anchor="ctr">
                    <a:lnL w="0" cap="flat" cmpd="sng" algn="ctr">
                      <a:noFill/>
                    </a:lnL>
                    <a:lnR w="0" cap="flat" cmpd="sng" algn="ctr">
                      <a:noFill/>
                    </a:lnR>
                    <a:lnT w="0" cap="flat" cmpd="sng" algn="ctr">
                      <a:noFill/>
                    </a:lnT>
                    <a:lnB w="0" cap="flat" cmpd="sng" algn="ctr">
                      <a:noFill/>
                    </a:lnB>
                    <a:solidFill>
                      <a:srgbClr val="EDF0F3"/>
                    </a:solidFill>
                  </a:tcPr>
                </a:tc>
                <a:tc>
                  <a:txBody>
                    <a:bodyPr/>
                    <a:lstStyle/>
                    <a:p>
                      <a:pPr indent="0" marL="0">
                        <a:buNone/>
                      </a:pPr>
                      <a:r>
                        <a:rPr lang="en-US" sz="1600" dirty="0">
                          <a:solidFill>
                            <a:schemeClr val="tx1"/>
                          </a:solidFill>
                        </a:rPr>
                        <a:t>Medals and golds at the country’s last Games</a:t>
                      </a:r>
                      <a:endParaRPr lang="en-US" sz="1600" dirty="0"/>
                    </a:p>
                  </a:txBody>
                  <a:tcPr marL="137160" marR="137160" marT="0" marB="0" anchor="ctr">
                    <a:lnL w="0" cap="flat" cmpd="sng" algn="ctr">
                      <a:noFill/>
                    </a:lnL>
                    <a:lnR w="0" cap="flat" cmpd="sng" algn="ctr">
                      <a:noFill/>
                    </a:lnR>
                    <a:lnT w="0" cap="flat" cmpd="sng" algn="ctr">
                      <a:noFill/>
                    </a:lnT>
                    <a:lnB w="0" cap="flat" cmpd="sng" algn="ctr">
                      <a:noFill/>
                    </a:lnB>
                    <a:solidFill>
                      <a:srgbClr val="EDF0F3"/>
                    </a:solidFill>
                  </a:tcPr>
                </a:tc>
              </a:tr>
              <a:tr h="566928">
                <a:tc>
                  <a:txBody>
                    <a:bodyPr/>
                    <a:lstStyle/>
                    <a:p>
                      <a:pPr indent="0" marL="0">
                        <a:buNone/>
                      </a:pPr>
                      <a:r>
                        <a:rPr lang="en-US" sz="1600" b="1" dirty="0">
                          <a:solidFill>
                            <a:schemeClr val="tx1"/>
                          </a:solidFill>
                        </a:rPr>
                        <a:t>Previous_Athletes / Sports / Events</a:t>
                      </a:r>
                      <a:endParaRPr lang="en-US" sz="1600" dirty="0"/>
                    </a:p>
                  </a:txBody>
                  <a:tcPr marL="137160" marR="13716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600" dirty="0">
                          <a:solidFill>
                            <a:schemeClr val="tx1"/>
                          </a:solidFill>
                        </a:rPr>
                        <a:t>Size and breadth of the last team</a:t>
                      </a:r>
                      <a:endParaRPr lang="en-US" sz="1600" dirty="0"/>
                    </a:p>
                  </a:txBody>
                  <a:tcPr marL="137160" marR="137160" marT="0" marB="0" anchor="ctr">
                    <a:lnL w="0" cap="flat" cmpd="sng" algn="ctr">
                      <a:noFill/>
                    </a:lnL>
                    <a:lnR w="0" cap="flat" cmpd="sng" algn="ctr">
                      <a:noFill/>
                    </a:lnR>
                    <a:lnT w="0" cap="flat" cmpd="sng" algn="ctr">
                      <a:noFill/>
                    </a:lnT>
                    <a:lnB w="0" cap="flat" cmpd="sng" algn="ctr">
                      <a:noFill/>
                    </a:lnB>
                    <a:solidFill>
                      <a:srgbClr val="FFFFFF"/>
                    </a:solidFill>
                  </a:tcPr>
                </a:tc>
              </a:tr>
              <a:tr h="566928">
                <a:tc>
                  <a:txBody>
                    <a:bodyPr/>
                    <a:lstStyle/>
                    <a:p>
                      <a:pPr indent="0" marL="0">
                        <a:buNone/>
                      </a:pPr>
                      <a:r>
                        <a:rPr lang="en-US" sz="1600" b="1" dirty="0">
                          <a:solidFill>
                            <a:schemeClr val="tx1"/>
                          </a:solidFill>
                        </a:rPr>
                        <a:t>Historical_Medal_Growth</a:t>
                      </a:r>
                      <a:endParaRPr lang="en-US" sz="1600" dirty="0"/>
                    </a:p>
                  </a:txBody>
                  <a:tcPr marL="137160" marR="137160" marT="0" marB="0" anchor="ctr">
                    <a:lnL w="0" cap="flat" cmpd="sng" algn="ctr">
                      <a:noFill/>
                    </a:lnL>
                    <a:lnR w="0" cap="flat" cmpd="sng" algn="ctr">
                      <a:noFill/>
                    </a:lnR>
                    <a:lnT w="0" cap="flat" cmpd="sng" algn="ctr">
                      <a:noFill/>
                    </a:lnT>
                    <a:lnB w="0" cap="flat" cmpd="sng" algn="ctr">
                      <a:noFill/>
                    </a:lnB>
                    <a:solidFill>
                      <a:srgbClr val="EDF0F3"/>
                    </a:solidFill>
                  </a:tcPr>
                </a:tc>
                <a:tc>
                  <a:txBody>
                    <a:bodyPr/>
                    <a:lstStyle/>
                    <a:p>
                      <a:pPr indent="0" marL="0">
                        <a:buNone/>
                      </a:pPr>
                      <a:r>
                        <a:rPr lang="en-US" sz="1600" dirty="0">
                          <a:solidFill>
                            <a:schemeClr val="tx1"/>
                          </a:solidFill>
                        </a:rPr>
                        <a:t>log(1+medals t−1) − log(1+medals t−2)</a:t>
                      </a:r>
                      <a:endParaRPr lang="en-US" sz="1600" dirty="0"/>
                    </a:p>
                  </a:txBody>
                  <a:tcPr marL="137160" marR="137160" marT="0" marB="0" anchor="ctr">
                    <a:lnL w="0" cap="flat" cmpd="sng" algn="ctr">
                      <a:noFill/>
                    </a:lnL>
                    <a:lnR w="0" cap="flat" cmpd="sng" algn="ctr">
                      <a:noFill/>
                    </a:lnR>
                    <a:lnT w="0" cap="flat" cmpd="sng" algn="ctr">
                      <a:noFill/>
                    </a:lnT>
                    <a:lnB w="0" cap="flat" cmpd="sng" algn="ctr">
                      <a:noFill/>
                    </a:lnB>
                    <a:solidFill>
                      <a:srgbClr val="EDF0F3"/>
                    </a:solidFill>
                  </a:tcPr>
                </a:tc>
              </a:tr>
              <a:tr h="566928">
                <a:tc>
                  <a:txBody>
                    <a:bodyPr/>
                    <a:lstStyle/>
                    <a:p>
                      <a:pPr indent="0" marL="0">
                        <a:buNone/>
                      </a:pPr>
                      <a:r>
                        <a:rPr lang="en-US" sz="1600" b="1" dirty="0">
                          <a:solidFill>
                            <a:schemeClr val="tx1"/>
                          </a:solidFill>
                        </a:rPr>
                        <a:t>Historical_Athlete_Growth</a:t>
                      </a:r>
                      <a:endParaRPr lang="en-US" sz="1600" dirty="0"/>
                    </a:p>
                  </a:txBody>
                  <a:tcPr marL="137160" marR="13716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600" dirty="0">
                          <a:solidFill>
                            <a:schemeClr val="tx1"/>
                          </a:solidFill>
                        </a:rPr>
                        <a:t>log(1+athletes t−1) − log(1+athletes t−2)</a:t>
                      </a:r>
                      <a:endParaRPr lang="en-US" sz="1600" dirty="0"/>
                    </a:p>
                  </a:txBody>
                  <a:tcPr marL="137160" marR="137160" marT="0" marB="0" anchor="ctr">
                    <a:lnL w="0" cap="flat" cmpd="sng" algn="ctr">
                      <a:noFill/>
                    </a:lnL>
                    <a:lnR w="0" cap="flat" cmpd="sng" algn="ctr">
                      <a:noFill/>
                    </a:lnR>
                    <a:lnT w="0" cap="flat" cmpd="sng" algn="ctr">
                      <a:noFill/>
                    </a:lnT>
                    <a:lnB w="0" cap="flat" cmpd="sng" algn="ctr">
                      <a:noFill/>
                    </a:lnB>
                    <a:solidFill>
                      <a:srgbClr val="FFFFFF"/>
                    </a:solidFill>
                  </a:tcPr>
                </a:tc>
              </a:tr>
              <a:tr h="566928">
                <a:tc>
                  <a:txBody>
                    <a:bodyPr/>
                    <a:lstStyle/>
                    <a:p>
                      <a:pPr indent="0" marL="0">
                        <a:buNone/>
                      </a:pPr>
                      <a:r>
                        <a:rPr lang="en-US" sz="1600" b="1" dirty="0">
                          <a:solidFill>
                            <a:schemeClr val="tx1"/>
                          </a:solidFill>
                        </a:rPr>
                        <a:t>Rolling_3_Medal_Avg</a:t>
                      </a:r>
                      <a:endParaRPr lang="en-US" sz="1600" dirty="0"/>
                    </a:p>
                  </a:txBody>
                  <a:tcPr marL="137160" marR="137160" marT="0" marB="0" anchor="ctr">
                    <a:lnL w="0" cap="flat" cmpd="sng" algn="ctr">
                      <a:noFill/>
                    </a:lnL>
                    <a:lnR w="0" cap="flat" cmpd="sng" algn="ctr">
                      <a:noFill/>
                    </a:lnR>
                    <a:lnT w="0" cap="flat" cmpd="sng" algn="ctr">
                      <a:noFill/>
                    </a:lnT>
                    <a:lnB w="0" cap="flat" cmpd="sng" algn="ctr">
                      <a:noFill/>
                    </a:lnB>
                    <a:solidFill>
                      <a:srgbClr val="EDF0F3"/>
                    </a:solidFill>
                  </a:tcPr>
                </a:tc>
                <a:tc>
                  <a:txBody>
                    <a:bodyPr/>
                    <a:lstStyle/>
                    <a:p>
                      <a:pPr indent="0" marL="0">
                        <a:buNone/>
                      </a:pPr>
                      <a:r>
                        <a:rPr lang="en-US" sz="1600" dirty="0">
                          <a:solidFill>
                            <a:schemeClr val="tx1"/>
                          </a:solidFill>
                        </a:rPr>
                        <a:t>Mean medals over the last three Games</a:t>
                      </a:r>
                      <a:endParaRPr lang="en-US" sz="1600" dirty="0"/>
                    </a:p>
                  </a:txBody>
                  <a:tcPr marL="137160" marR="137160" marT="0" marB="0" anchor="ctr">
                    <a:lnL w="0" cap="flat" cmpd="sng" algn="ctr">
                      <a:noFill/>
                    </a:lnL>
                    <a:lnR w="0" cap="flat" cmpd="sng" algn="ctr">
                      <a:noFill/>
                    </a:lnR>
                    <a:lnT w="0" cap="flat" cmpd="sng" algn="ctr">
                      <a:noFill/>
                    </a:lnT>
                    <a:lnB w="0" cap="flat" cmpd="sng" algn="ctr">
                      <a:noFill/>
                    </a:lnB>
                    <a:solidFill>
                      <a:srgbClr val="EDF0F3"/>
                    </a:solidFill>
                  </a:tcPr>
                </a:tc>
              </a:tr>
              <a:tr h="566928">
                <a:tc>
                  <a:txBody>
                    <a:bodyPr/>
                    <a:lstStyle/>
                    <a:p>
                      <a:pPr indent="0" marL="0">
                        <a:buNone/>
                      </a:pPr>
                      <a:r>
                        <a:rPr lang="en-US" sz="1600" b="1" dirty="0">
                          <a:solidFill>
                            <a:schemeClr val="tx1"/>
                          </a:solidFill>
                        </a:rPr>
                        <a:t>Medal_Efficiency</a:t>
                      </a:r>
                      <a:endParaRPr lang="en-US" sz="1600" dirty="0"/>
                    </a:p>
                  </a:txBody>
                  <a:tcPr marL="137160" marR="137160"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indent="0" marL="0">
                        <a:buNone/>
                      </a:pPr>
                      <a:r>
                        <a:rPr lang="en-US" sz="1600" dirty="0">
                          <a:solidFill>
                            <a:schemeClr val="tx1"/>
                          </a:solidFill>
                        </a:rPr>
                        <a:t>Last Games’ medals per athlete</a:t>
                      </a:r>
                      <a:endParaRPr lang="en-US" sz="1600" dirty="0"/>
                    </a:p>
                  </a:txBody>
                  <a:tcPr marL="137160" marR="137160"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5" name="Text 1"/>
          <p:cNvSpPr txBox="1"/>
          <p:nvPr/>
        </p:nvSpPr>
        <p:spPr>
          <a:xfrm>
            <a:off x="548640" y="5623560"/>
            <a:ext cx="11064240" cy="457200"/>
          </a:xfrm>
          <a:prstGeom prst="rect">
            <a:avLst/>
          </a:prstGeom>
          <a:noFill/>
          <a:ln/>
        </p:spPr>
        <p:txBody>
          <a:bodyPr wrap="square" lIns="0" tIns="0" rIns="0" bIns="0" rtlCol="0" anchor="t"/>
          <a:lstStyle/>
          <a:p>
            <a:pPr indent="0" marL="0">
              <a:buNone/>
            </a:pPr>
            <a:r>
              <a:rPr lang="en-US" sz="1500" dirty="0">
                <a:solidFill>
                  <a:schemeClr val="accent6"/>
                </a:solidFill>
              </a:rPr>
              <a:t>Plus eight World Bank features from the year before: log GDP, log GDP per capita, GDP growth, log population, population growth, log land area, and shares of world GDP and population.</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chemeClr val="bg1"/>
                </a:solidFill>
              </a:rPr>
              <a:t>Novelty: Performance Momentum</a:t>
            </a:r>
            <a:endParaRPr lang="en-US" sz="3400" dirty="0"/>
          </a:p>
        </p:txBody>
      </p:sp>
      <p:sp>
        <p:nvSpPr>
          <p:cNvPr id="4" name="Momentum score (feature) card"/>
          <p:cNvSpPr/>
          <p:nvPr/>
        </p:nvSpPr>
        <p:spPr>
          <a:xfrm>
            <a:off x="548640" y="1463040"/>
            <a:ext cx="5349240" cy="4297680"/>
          </a:xfrm>
          <a:prstGeom prst="roundRect">
            <a:avLst>
              <a:gd name="adj" fmla="val 2553"/>
            </a:avLst>
          </a:prstGeom>
          <a:solidFill>
            <a:srgbClr val="1A2C47"/>
          </a:solidFill>
          <a:ln w="12700">
            <a:solidFill>
              <a:srgbClr val="33496B"/>
            </a:solidFill>
            <a:prstDash val="solid"/>
          </a:ln>
        </p:spPr>
      </p:sp>
      <p:sp>
        <p:nvSpPr>
          <p:cNvPr id="5" name="Medal disc"/>
          <p:cNvSpPr/>
          <p:nvPr/>
        </p:nvSpPr>
        <p:spPr>
          <a:xfrm>
            <a:off x="868680" y="1755648"/>
            <a:ext cx="292608" cy="292608"/>
          </a:xfrm>
          <a:prstGeom prst="ellipse">
            <a:avLst/>
          </a:prstGeom>
          <a:solidFill>
            <a:srgbClr val="8F99A9"/>
          </a:solidFill>
          <a:ln w="12700">
            <a:solidFill>
              <a:srgbClr val="8F99A9"/>
            </a:solidFill>
            <a:prstDash val="solid"/>
          </a:ln>
        </p:spPr>
      </p:sp>
      <p:sp>
        <p:nvSpPr>
          <p:cNvPr id="6" name="Text 3"/>
          <p:cNvSpPr txBox="1"/>
          <p:nvPr/>
        </p:nvSpPr>
        <p:spPr>
          <a:xfrm>
            <a:off x="1325880" y="1691640"/>
            <a:ext cx="4389120" cy="457200"/>
          </a:xfrm>
          <a:prstGeom prst="rect">
            <a:avLst/>
          </a:prstGeom>
          <a:noFill/>
          <a:ln/>
        </p:spPr>
        <p:txBody>
          <a:bodyPr wrap="square" lIns="0" tIns="0" rIns="0" bIns="0" rtlCol="0" anchor="t"/>
          <a:lstStyle/>
          <a:p>
            <a:pPr indent="0" marL="0">
              <a:buNone/>
            </a:pPr>
            <a:r>
              <a:rPr lang="en-US" sz="2200" b="1" dirty="0">
                <a:solidFill>
                  <a:schemeClr val="bg1"/>
                </a:solidFill>
              </a:rPr>
              <a:t>Momentum score (feature)</a:t>
            </a:r>
            <a:endParaRPr lang="en-US" sz="2200" dirty="0"/>
          </a:p>
        </p:txBody>
      </p:sp>
      <p:sp>
        <p:nvSpPr>
          <p:cNvPr id="7" name="Text 4"/>
          <p:cNvSpPr txBox="1"/>
          <p:nvPr/>
        </p:nvSpPr>
        <p:spPr>
          <a:xfrm>
            <a:off x="868680" y="2423160"/>
            <a:ext cx="4709160" cy="1737360"/>
          </a:xfrm>
          <a:prstGeom prst="rect">
            <a:avLst/>
          </a:prstGeom>
          <a:noFill/>
          <a:ln/>
        </p:spPr>
        <p:txBody>
          <a:bodyPr wrap="square" lIns="0" tIns="0" rIns="0" bIns="0" rtlCol="0" anchor="t"/>
          <a:lstStyle/>
          <a:p>
            <a:pPr indent="0" marL="0">
              <a:buNone/>
            </a:pPr>
            <a:r>
              <a:rPr lang="en-US" sz="1700" dirty="0">
                <a:solidFill>
                  <a:srgbClr val="DCE5F0"/>
                </a:solidFill>
              </a:rPr>
              <a:t>Mean of the z-scored medal growth, athlete growth and medal efficiency. The scaler is fitted inside the pipeline on training Games only.</a:t>
            </a:r>
            <a:endParaRPr lang="en-US" sz="1700" dirty="0"/>
          </a:p>
        </p:txBody>
      </p:sp>
      <p:sp>
        <p:nvSpPr>
          <p:cNvPr id="8" name="Formula box"/>
          <p:cNvSpPr/>
          <p:nvPr/>
        </p:nvSpPr>
        <p:spPr>
          <a:xfrm>
            <a:off x="868680" y="4343400"/>
            <a:ext cx="4709160" cy="1097280"/>
          </a:xfrm>
          <a:prstGeom prst="roundRect">
            <a:avLst>
              <a:gd name="adj" fmla="val 6667"/>
            </a:avLst>
          </a:prstGeom>
          <a:solidFill>
            <a:srgbClr val="13223A"/>
          </a:solidFill>
          <a:ln w="12700">
            <a:solidFill>
              <a:srgbClr val="13223A"/>
            </a:solidFill>
            <a:prstDash val="solid"/>
          </a:ln>
        </p:spPr>
      </p:sp>
      <p:sp>
        <p:nvSpPr>
          <p:cNvPr id="9" name="Text 6"/>
          <p:cNvSpPr txBox="1"/>
          <p:nvPr/>
        </p:nvSpPr>
        <p:spPr>
          <a:xfrm>
            <a:off x="1051560" y="4434840"/>
            <a:ext cx="4343400" cy="914400"/>
          </a:xfrm>
          <a:prstGeom prst="rect">
            <a:avLst/>
          </a:prstGeom>
          <a:noFill/>
          <a:ln/>
        </p:spPr>
        <p:txBody>
          <a:bodyPr wrap="square" lIns="0" tIns="0" rIns="0" bIns="0" rtlCol="0" anchor="ctr"/>
          <a:lstStyle/>
          <a:p>
            <a:pPr indent="0" marL="0">
              <a:buNone/>
            </a:pPr>
            <a:r>
              <a:rPr lang="en-US" sz="1600" i="1" dirty="0">
                <a:solidFill>
                  <a:srgbClr val="C4CAD4"/>
                </a:solidFill>
                <a:latin typeface="Cambria" pitchFamily="34" charset="0"/>
                <a:ea typeface="Cambria" pitchFamily="34" charset="-122"/>
                <a:cs typeface="Cambria" pitchFamily="34" charset="-120"/>
              </a:rPr>
              <a:t>momentum = mean( z(growth_medals), z(growth_athletes), z(efficiency) )</a:t>
            </a:r>
            <a:endParaRPr lang="en-US" sz="1600" dirty="0"/>
          </a:p>
        </p:txBody>
      </p:sp>
      <p:sp>
        <p:nvSpPr>
          <p:cNvPr id="10" name="Momentum target (proposed) card"/>
          <p:cNvSpPr/>
          <p:nvPr/>
        </p:nvSpPr>
        <p:spPr>
          <a:xfrm>
            <a:off x="6263640" y="1463040"/>
            <a:ext cx="5349240" cy="4297680"/>
          </a:xfrm>
          <a:prstGeom prst="roundRect">
            <a:avLst>
              <a:gd name="adj" fmla="val 2553"/>
            </a:avLst>
          </a:prstGeom>
          <a:solidFill>
            <a:srgbClr val="1F3A5F"/>
          </a:solidFill>
          <a:ln w="19050">
            <a:solidFill>
              <a:srgbClr val="C8962E"/>
            </a:solidFill>
            <a:prstDash val="solid"/>
          </a:ln>
        </p:spPr>
      </p:sp>
      <p:sp>
        <p:nvSpPr>
          <p:cNvPr id="11" name="Medal disc"/>
          <p:cNvSpPr/>
          <p:nvPr/>
        </p:nvSpPr>
        <p:spPr>
          <a:xfrm>
            <a:off x="6583680" y="1755648"/>
            <a:ext cx="292608" cy="292608"/>
          </a:xfrm>
          <a:prstGeom prst="ellipse">
            <a:avLst/>
          </a:prstGeom>
          <a:solidFill>
            <a:srgbClr val="C8962E"/>
          </a:solidFill>
          <a:ln w="12700">
            <a:solidFill>
              <a:srgbClr val="C8962E"/>
            </a:solidFill>
            <a:prstDash val="solid"/>
          </a:ln>
        </p:spPr>
      </p:sp>
      <p:sp>
        <p:nvSpPr>
          <p:cNvPr id="12" name="Text 9"/>
          <p:cNvSpPr txBox="1"/>
          <p:nvPr/>
        </p:nvSpPr>
        <p:spPr>
          <a:xfrm>
            <a:off x="7040880" y="1691640"/>
            <a:ext cx="4389120" cy="457200"/>
          </a:xfrm>
          <a:prstGeom prst="rect">
            <a:avLst/>
          </a:prstGeom>
          <a:noFill/>
          <a:ln/>
        </p:spPr>
        <p:txBody>
          <a:bodyPr wrap="square" lIns="0" tIns="0" rIns="0" bIns="0" rtlCol="0" anchor="t"/>
          <a:lstStyle/>
          <a:p>
            <a:pPr indent="0" marL="0">
              <a:buNone/>
            </a:pPr>
            <a:r>
              <a:rPr lang="en-US" sz="2200" b="1" dirty="0">
                <a:solidFill>
                  <a:schemeClr val="bg1"/>
                </a:solidFill>
              </a:rPr>
              <a:t>Momentum target (proposed)</a:t>
            </a:r>
            <a:endParaRPr lang="en-US" sz="2200" dirty="0"/>
          </a:p>
        </p:txBody>
      </p:sp>
      <p:sp>
        <p:nvSpPr>
          <p:cNvPr id="13" name="Text 10"/>
          <p:cNvSpPr txBox="1"/>
          <p:nvPr/>
        </p:nvSpPr>
        <p:spPr>
          <a:xfrm>
            <a:off x="6583680" y="2423160"/>
            <a:ext cx="4709160" cy="1737360"/>
          </a:xfrm>
          <a:prstGeom prst="rect">
            <a:avLst/>
          </a:prstGeom>
          <a:noFill/>
          <a:ln/>
        </p:spPr>
        <p:txBody>
          <a:bodyPr wrap="square" lIns="0" tIns="0" rIns="0" bIns="0" rtlCol="0" anchor="t"/>
          <a:lstStyle/>
          <a:p>
            <a:pPr indent="0" marL="0">
              <a:buNone/>
            </a:pPr>
            <a:r>
              <a:rPr lang="en-US" sz="1700" dirty="0">
                <a:solidFill>
                  <a:srgbClr val="DCE5F0"/>
                </a:solidFill>
              </a:rPr>
              <a:t>The forest learns the change in log medals since the last Games. The forecast adds that change back to last Games’ count.</a:t>
            </a:r>
            <a:endParaRPr lang="en-US" sz="1700" dirty="0"/>
          </a:p>
        </p:txBody>
      </p:sp>
      <p:sp>
        <p:nvSpPr>
          <p:cNvPr id="14" name="Formula box"/>
          <p:cNvSpPr/>
          <p:nvPr/>
        </p:nvSpPr>
        <p:spPr>
          <a:xfrm>
            <a:off x="6583680" y="4343400"/>
            <a:ext cx="4709160" cy="1097280"/>
          </a:xfrm>
          <a:prstGeom prst="roundRect">
            <a:avLst>
              <a:gd name="adj" fmla="val 6667"/>
            </a:avLst>
          </a:prstGeom>
          <a:solidFill>
            <a:srgbClr val="13223A"/>
          </a:solidFill>
          <a:ln w="12700">
            <a:solidFill>
              <a:srgbClr val="13223A"/>
            </a:solidFill>
            <a:prstDash val="solid"/>
          </a:ln>
        </p:spPr>
      </p:sp>
      <p:sp>
        <p:nvSpPr>
          <p:cNvPr id="15" name="Text 12"/>
          <p:cNvSpPr txBox="1"/>
          <p:nvPr/>
        </p:nvSpPr>
        <p:spPr>
          <a:xfrm>
            <a:off x="6766560" y="4434840"/>
            <a:ext cx="4343400" cy="914400"/>
          </a:xfrm>
          <a:prstGeom prst="rect">
            <a:avLst/>
          </a:prstGeom>
          <a:noFill/>
          <a:ln/>
        </p:spPr>
        <p:txBody>
          <a:bodyPr wrap="square" lIns="0" tIns="0" rIns="0" bIns="0" rtlCol="0" anchor="ctr"/>
          <a:lstStyle/>
          <a:p>
            <a:pPr indent="0" marL="0">
              <a:buNone/>
            </a:pPr>
            <a:r>
              <a:rPr lang="en-US" sz="1600" i="1" dirty="0">
                <a:solidFill>
                  <a:srgbClr val="E7D3A6"/>
                </a:solidFill>
                <a:latin typeface="Cambria" pitchFamily="34" charset="0"/>
                <a:ea typeface="Cambria" pitchFamily="34" charset="-122"/>
                <a:cs typeface="Cambria" pitchFamily="34" charset="-120"/>
              </a:rPr>
              <a:t>forecast = (1 + medals t−1) × e^(predicted momentum) − 1</a:t>
            </a:r>
            <a:endParaRPr lang="en-US" sz="16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4CAD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chemeClr val="tx1"/>
                </a:solidFill>
              </a:rPr>
              <a:t>Experimental design: a fair, chronological comparison</a:t>
            </a:r>
            <a:endParaRPr lang="en-US" sz="3400" dirty="0"/>
          </a:p>
        </p:txBody>
      </p:sp>
      <p:sp>
        <p:nvSpPr>
          <p:cNvPr id="4" name="Train span"/>
          <p:cNvSpPr/>
          <p:nvPr/>
        </p:nvSpPr>
        <p:spPr>
          <a:xfrm>
            <a:off x="822960" y="2148840"/>
            <a:ext cx="8262257" cy="457200"/>
          </a:xfrm>
          <a:prstGeom prst="rect">
            <a:avLst/>
          </a:prstGeom>
          <a:solidFill>
            <a:srgbClr val="2E5A88"/>
          </a:solidFill>
          <a:ln w="12700">
            <a:solidFill>
              <a:srgbClr val="2E5A88"/>
            </a:solidFill>
            <a:prstDash val="solid"/>
          </a:ln>
        </p:spPr>
      </p:sp>
      <p:sp>
        <p:nvSpPr>
          <p:cNvPr id="5" name="Validate block"/>
          <p:cNvSpPr/>
          <p:nvPr/>
        </p:nvSpPr>
        <p:spPr>
          <a:xfrm>
            <a:off x="9543723" y="2148840"/>
            <a:ext cx="585216" cy="457200"/>
          </a:xfrm>
          <a:prstGeom prst="rect">
            <a:avLst/>
          </a:prstGeom>
          <a:solidFill>
            <a:srgbClr val="8F99A9"/>
          </a:solidFill>
          <a:ln w="12700">
            <a:solidFill>
              <a:srgbClr val="8F99A9"/>
            </a:solidFill>
            <a:prstDash val="solid"/>
          </a:ln>
        </p:spPr>
      </p:sp>
      <p:sp>
        <p:nvSpPr>
          <p:cNvPr id="6" name="Text 3"/>
          <p:cNvSpPr txBox="1"/>
          <p:nvPr/>
        </p:nvSpPr>
        <p:spPr>
          <a:xfrm>
            <a:off x="9196251" y="2697480"/>
            <a:ext cx="1280160" cy="548640"/>
          </a:xfrm>
          <a:prstGeom prst="rect">
            <a:avLst/>
          </a:prstGeom>
          <a:noFill/>
          <a:ln/>
        </p:spPr>
        <p:txBody>
          <a:bodyPr wrap="square" lIns="0" tIns="0" rIns="0" bIns="0" rtlCol="0" anchor="t"/>
          <a:lstStyle/>
          <a:p>
            <a:pPr algn="ctr" indent="0" marL="0">
              <a:buNone/>
            </a:pPr>
            <a:r>
              <a:rPr lang="en-US" sz="1300" dirty="0">
                <a:solidFill>
                  <a:schemeClr val="accent6"/>
                </a:solidFill>
              </a:rPr>
              <a:t>Validate</a:t>
            </a:r>
            <a:endParaRPr lang="en-US" sz="1300" dirty="0"/>
          </a:p>
          <a:p>
            <a:pPr algn="ctr" indent="0" marL="0">
              <a:buNone/>
            </a:pPr>
            <a:r>
              <a:rPr lang="en-US" sz="1300" dirty="0">
                <a:solidFill>
                  <a:schemeClr val="accent6"/>
                </a:solidFill>
              </a:rPr>
              <a:t>2012</a:t>
            </a:r>
            <a:endParaRPr lang="en-US" sz="1300" dirty="0"/>
          </a:p>
        </p:txBody>
      </p:sp>
      <p:sp>
        <p:nvSpPr>
          <p:cNvPr id="7" name="Test block"/>
          <p:cNvSpPr/>
          <p:nvPr/>
        </p:nvSpPr>
        <p:spPr>
          <a:xfrm>
            <a:off x="10294838" y="2148840"/>
            <a:ext cx="585216" cy="457200"/>
          </a:xfrm>
          <a:prstGeom prst="rect">
            <a:avLst/>
          </a:prstGeom>
          <a:solidFill>
            <a:srgbClr val="C8962E"/>
          </a:solidFill>
          <a:ln w="12700">
            <a:solidFill>
              <a:srgbClr val="C8962E"/>
            </a:solidFill>
            <a:prstDash val="solid"/>
          </a:ln>
        </p:spPr>
      </p:sp>
      <p:sp>
        <p:nvSpPr>
          <p:cNvPr id="8" name="Text 5"/>
          <p:cNvSpPr txBox="1"/>
          <p:nvPr/>
        </p:nvSpPr>
        <p:spPr>
          <a:xfrm>
            <a:off x="9947366" y="2697480"/>
            <a:ext cx="1280160" cy="548640"/>
          </a:xfrm>
          <a:prstGeom prst="rect">
            <a:avLst/>
          </a:prstGeom>
          <a:noFill/>
          <a:ln/>
        </p:spPr>
        <p:txBody>
          <a:bodyPr wrap="square" lIns="0" tIns="0" rIns="0" bIns="0" rtlCol="0" anchor="t"/>
          <a:lstStyle/>
          <a:p>
            <a:pPr algn="ctr" indent="0" marL="0">
              <a:buNone/>
            </a:pPr>
            <a:r>
              <a:rPr lang="en-US" sz="1300" dirty="0">
                <a:solidFill>
                  <a:schemeClr val="accent6"/>
                </a:solidFill>
              </a:rPr>
              <a:t>Test</a:t>
            </a:r>
            <a:endParaRPr lang="en-US" sz="1300" dirty="0"/>
          </a:p>
          <a:p>
            <a:pPr algn="ctr" indent="0" marL="0">
              <a:buNone/>
            </a:pPr>
            <a:r>
              <a:rPr lang="en-US" sz="1300" dirty="0">
                <a:solidFill>
                  <a:schemeClr val="accent6"/>
                </a:solidFill>
              </a:rPr>
              <a:t>2016</a:t>
            </a:r>
            <a:endParaRPr lang="en-US" sz="1300" dirty="0"/>
          </a:p>
        </p:txBody>
      </p:sp>
      <p:sp>
        <p:nvSpPr>
          <p:cNvPr id="9" name="Forecast block"/>
          <p:cNvSpPr/>
          <p:nvPr/>
        </p:nvSpPr>
        <p:spPr>
          <a:xfrm>
            <a:off x="11045952" y="2148840"/>
            <a:ext cx="585216" cy="457200"/>
          </a:xfrm>
          <a:prstGeom prst="rect">
            <a:avLst/>
          </a:prstGeom>
          <a:solidFill>
            <a:srgbClr val="A86A3D"/>
          </a:solidFill>
          <a:ln w="12700">
            <a:solidFill>
              <a:srgbClr val="A86A3D"/>
            </a:solidFill>
            <a:prstDash val="solid"/>
          </a:ln>
        </p:spPr>
      </p:sp>
      <p:sp>
        <p:nvSpPr>
          <p:cNvPr id="10" name="Text 7"/>
          <p:cNvSpPr txBox="1"/>
          <p:nvPr/>
        </p:nvSpPr>
        <p:spPr>
          <a:xfrm>
            <a:off x="10698480" y="2697480"/>
            <a:ext cx="1280160" cy="548640"/>
          </a:xfrm>
          <a:prstGeom prst="rect">
            <a:avLst/>
          </a:prstGeom>
          <a:noFill/>
          <a:ln/>
        </p:spPr>
        <p:txBody>
          <a:bodyPr wrap="square" lIns="0" tIns="0" rIns="0" bIns="0" rtlCol="0" anchor="t"/>
          <a:lstStyle/>
          <a:p>
            <a:pPr algn="ctr" indent="0" marL="0">
              <a:buNone/>
            </a:pPr>
            <a:r>
              <a:rPr lang="en-US" sz="1300" dirty="0">
                <a:solidFill>
                  <a:schemeClr val="accent6"/>
                </a:solidFill>
              </a:rPr>
              <a:t>Forecast</a:t>
            </a:r>
            <a:endParaRPr lang="en-US" sz="1300" dirty="0"/>
          </a:p>
          <a:p>
            <a:pPr algn="ctr" indent="0" marL="0">
              <a:buNone/>
            </a:pPr>
            <a:r>
              <a:rPr lang="en-US" sz="1300" dirty="0">
                <a:solidFill>
                  <a:schemeClr val="accent6"/>
                </a:solidFill>
              </a:rPr>
              <a:t>2020</a:t>
            </a:r>
            <a:endParaRPr lang="en-US" sz="1300" dirty="0"/>
          </a:p>
        </p:txBody>
      </p:sp>
      <p:sp>
        <p:nvSpPr>
          <p:cNvPr id="11" name="Text 8"/>
          <p:cNvSpPr txBox="1"/>
          <p:nvPr/>
        </p:nvSpPr>
        <p:spPr>
          <a:xfrm>
            <a:off x="822960" y="1737360"/>
            <a:ext cx="6400800" cy="320040"/>
          </a:xfrm>
          <a:prstGeom prst="rect">
            <a:avLst/>
          </a:prstGeom>
          <a:noFill/>
          <a:ln/>
        </p:spPr>
        <p:txBody>
          <a:bodyPr wrap="square" lIns="0" tIns="0" rIns="0" bIns="0" rtlCol="0" anchor="t"/>
          <a:lstStyle/>
          <a:p>
            <a:pPr indent="0" marL="0">
              <a:buNone/>
            </a:pPr>
            <a:r>
              <a:rPr lang="en-US" sz="1400" dirty="0">
                <a:solidFill>
                  <a:schemeClr val="accent6"/>
                </a:solidFill>
              </a:rPr>
              <a:t>Train 1964–2008 (then 1964–2012 for the final test)</a:t>
            </a:r>
            <a:endParaRPr lang="en-US" sz="1400" dirty="0"/>
          </a:p>
        </p:txBody>
      </p:sp>
      <p:sp>
        <p:nvSpPr>
          <p:cNvPr id="12" name="Text 9"/>
          <p:cNvSpPr txBox="1"/>
          <p:nvPr/>
        </p:nvSpPr>
        <p:spPr>
          <a:xfrm>
            <a:off x="457200" y="2697480"/>
            <a:ext cx="731520" cy="274320"/>
          </a:xfrm>
          <a:prstGeom prst="rect">
            <a:avLst/>
          </a:prstGeom>
          <a:noFill/>
          <a:ln/>
        </p:spPr>
        <p:txBody>
          <a:bodyPr wrap="square" lIns="0" tIns="0" rIns="0" bIns="0" rtlCol="0" anchor="t"/>
          <a:lstStyle/>
          <a:p>
            <a:pPr algn="ctr" indent="0" marL="0">
              <a:buNone/>
            </a:pPr>
            <a:r>
              <a:rPr lang="en-US" sz="1200" dirty="0">
                <a:solidFill>
                  <a:schemeClr val="accent6"/>
                </a:solidFill>
              </a:rPr>
              <a:t>1964</a:t>
            </a:r>
            <a:endParaRPr lang="en-US" sz="1200" dirty="0"/>
          </a:p>
        </p:txBody>
      </p:sp>
      <p:sp>
        <p:nvSpPr>
          <p:cNvPr id="13" name="Text 10"/>
          <p:cNvSpPr txBox="1"/>
          <p:nvPr/>
        </p:nvSpPr>
        <p:spPr>
          <a:xfrm>
            <a:off x="2710543" y="2697480"/>
            <a:ext cx="731520" cy="274320"/>
          </a:xfrm>
          <a:prstGeom prst="rect">
            <a:avLst/>
          </a:prstGeom>
          <a:noFill/>
          <a:ln/>
        </p:spPr>
        <p:txBody>
          <a:bodyPr wrap="square" lIns="0" tIns="0" rIns="0" bIns="0" rtlCol="0" anchor="t"/>
          <a:lstStyle/>
          <a:p>
            <a:pPr algn="ctr" indent="0" marL="0">
              <a:buNone/>
            </a:pPr>
            <a:r>
              <a:rPr lang="en-US" sz="1200" dirty="0">
                <a:solidFill>
                  <a:schemeClr val="accent6"/>
                </a:solidFill>
              </a:rPr>
              <a:t>1976</a:t>
            </a:r>
            <a:endParaRPr lang="en-US" sz="1200" dirty="0"/>
          </a:p>
        </p:txBody>
      </p:sp>
      <p:sp>
        <p:nvSpPr>
          <p:cNvPr id="14" name="Text 11"/>
          <p:cNvSpPr txBox="1"/>
          <p:nvPr/>
        </p:nvSpPr>
        <p:spPr>
          <a:xfrm>
            <a:off x="4963886" y="2697480"/>
            <a:ext cx="731520" cy="274320"/>
          </a:xfrm>
          <a:prstGeom prst="rect">
            <a:avLst/>
          </a:prstGeom>
          <a:noFill/>
          <a:ln/>
        </p:spPr>
        <p:txBody>
          <a:bodyPr wrap="square" lIns="0" tIns="0" rIns="0" bIns="0" rtlCol="0" anchor="t"/>
          <a:lstStyle/>
          <a:p>
            <a:pPr algn="ctr" indent="0" marL="0">
              <a:buNone/>
            </a:pPr>
            <a:r>
              <a:rPr lang="en-US" sz="1200" dirty="0">
                <a:solidFill>
                  <a:schemeClr val="accent6"/>
                </a:solidFill>
              </a:rPr>
              <a:t>1988</a:t>
            </a:r>
            <a:endParaRPr lang="en-US" sz="1200" dirty="0"/>
          </a:p>
        </p:txBody>
      </p:sp>
      <p:sp>
        <p:nvSpPr>
          <p:cNvPr id="15" name="Text 12"/>
          <p:cNvSpPr txBox="1"/>
          <p:nvPr/>
        </p:nvSpPr>
        <p:spPr>
          <a:xfrm>
            <a:off x="7217229" y="2697480"/>
            <a:ext cx="731520" cy="274320"/>
          </a:xfrm>
          <a:prstGeom prst="rect">
            <a:avLst/>
          </a:prstGeom>
          <a:noFill/>
          <a:ln/>
        </p:spPr>
        <p:txBody>
          <a:bodyPr wrap="square" lIns="0" tIns="0" rIns="0" bIns="0" rtlCol="0" anchor="t"/>
          <a:lstStyle/>
          <a:p>
            <a:pPr algn="ctr" indent="0" marL="0">
              <a:buNone/>
            </a:pPr>
            <a:r>
              <a:rPr lang="en-US" sz="1200" dirty="0">
                <a:solidFill>
                  <a:schemeClr val="accent6"/>
                </a:solidFill>
              </a:rPr>
              <a:t>2000</a:t>
            </a:r>
            <a:endParaRPr lang="en-US" sz="1200" dirty="0"/>
          </a:p>
        </p:txBody>
      </p:sp>
      <p:sp>
        <p:nvSpPr>
          <p:cNvPr id="16" name="Medal disc"/>
          <p:cNvSpPr/>
          <p:nvPr/>
        </p:nvSpPr>
        <p:spPr>
          <a:xfrm>
            <a:off x="548640" y="3794760"/>
            <a:ext cx="256032" cy="256032"/>
          </a:xfrm>
          <a:prstGeom prst="ellipse">
            <a:avLst/>
          </a:prstGeom>
          <a:solidFill>
            <a:srgbClr val="C8962E"/>
          </a:solidFill>
          <a:ln w="12700">
            <a:solidFill>
              <a:srgbClr val="C8962E"/>
            </a:solidFill>
            <a:prstDash val="solid"/>
          </a:ln>
        </p:spPr>
      </p:sp>
      <p:sp>
        <p:nvSpPr>
          <p:cNvPr id="17" name="Text 14"/>
          <p:cNvSpPr txBox="1"/>
          <p:nvPr/>
        </p:nvSpPr>
        <p:spPr>
          <a:xfrm>
            <a:off x="960120" y="3730752"/>
            <a:ext cx="3108960" cy="411480"/>
          </a:xfrm>
          <a:prstGeom prst="rect">
            <a:avLst/>
          </a:prstGeom>
          <a:noFill/>
          <a:ln/>
        </p:spPr>
        <p:txBody>
          <a:bodyPr wrap="square" lIns="0" tIns="0" rIns="0" bIns="0" rtlCol="0" anchor="t"/>
          <a:lstStyle/>
          <a:p>
            <a:pPr indent="0" marL="0">
              <a:buNone/>
            </a:pPr>
            <a:r>
              <a:rPr lang="en-US" sz="1800" b="1" dirty="0">
                <a:solidFill>
                  <a:schemeClr val="tx1"/>
                </a:solidFill>
              </a:rPr>
              <a:t>Eight models, one forest</a:t>
            </a:r>
            <a:endParaRPr lang="en-US" sz="1800" dirty="0"/>
          </a:p>
        </p:txBody>
      </p:sp>
      <p:sp>
        <p:nvSpPr>
          <p:cNvPr id="18" name="Text 15"/>
          <p:cNvSpPr txBox="1"/>
          <p:nvPr/>
        </p:nvSpPr>
        <p:spPr>
          <a:xfrm>
            <a:off x="960120" y="4206240"/>
            <a:ext cx="3108960" cy="1645920"/>
          </a:xfrm>
          <a:prstGeom prst="rect">
            <a:avLst/>
          </a:prstGeom>
          <a:noFill/>
          <a:ln/>
        </p:spPr>
        <p:txBody>
          <a:bodyPr wrap="square" lIns="0" tIns="0" rIns="0" bIns="0" rtlCol="0" anchor="t"/>
          <a:lstStyle/>
          <a:p>
            <a:pPr indent="0" marL="0">
              <a:buNone/>
            </a:pPr>
            <a:r>
              <a:rPr lang="en-US" sz="1500" dirty="0">
                <a:solidFill>
                  <a:schemeClr val="accent6"/>
                </a:solidFill>
              </a:rPr>
              <a:t>Count target: Baseline, Historical, + Score, + Economic, Paper Two-Stage. Momentum target: alone, + Score, + Economic</a:t>
            </a:r>
            <a:endParaRPr lang="en-US" sz="1500" dirty="0"/>
          </a:p>
        </p:txBody>
      </p:sp>
      <p:sp>
        <p:nvSpPr>
          <p:cNvPr id="19" name="Medal disc"/>
          <p:cNvSpPr/>
          <p:nvPr/>
        </p:nvSpPr>
        <p:spPr>
          <a:xfrm>
            <a:off x="4297680" y="3794760"/>
            <a:ext cx="256032" cy="256032"/>
          </a:xfrm>
          <a:prstGeom prst="ellipse">
            <a:avLst/>
          </a:prstGeom>
          <a:solidFill>
            <a:srgbClr val="8F99A9"/>
          </a:solidFill>
          <a:ln w="12700">
            <a:solidFill>
              <a:srgbClr val="8F99A9"/>
            </a:solidFill>
            <a:prstDash val="solid"/>
          </a:ln>
        </p:spPr>
      </p:sp>
      <p:sp>
        <p:nvSpPr>
          <p:cNvPr id="20" name="Text 17"/>
          <p:cNvSpPr txBox="1"/>
          <p:nvPr/>
        </p:nvSpPr>
        <p:spPr>
          <a:xfrm>
            <a:off x="4709160" y="3730752"/>
            <a:ext cx="3108960" cy="411480"/>
          </a:xfrm>
          <a:prstGeom prst="rect">
            <a:avLst/>
          </a:prstGeom>
          <a:noFill/>
          <a:ln/>
        </p:spPr>
        <p:txBody>
          <a:bodyPr wrap="square" lIns="0" tIns="0" rIns="0" bIns="0" rtlCol="0" anchor="t"/>
          <a:lstStyle/>
          <a:p>
            <a:pPr indent="0" marL="0">
              <a:buNone/>
            </a:pPr>
            <a:r>
              <a:rPr lang="en-US" sz="1800" b="1" dirty="0">
                <a:solidFill>
                  <a:schemeClr val="tx1"/>
                </a:solidFill>
              </a:rPr>
              <a:t>Metrics</a:t>
            </a:r>
            <a:endParaRPr lang="en-US" sz="1800" dirty="0"/>
          </a:p>
        </p:txBody>
      </p:sp>
      <p:sp>
        <p:nvSpPr>
          <p:cNvPr id="21" name="Text 18"/>
          <p:cNvSpPr txBox="1"/>
          <p:nvPr/>
        </p:nvSpPr>
        <p:spPr>
          <a:xfrm>
            <a:off x="4709160" y="4206240"/>
            <a:ext cx="3108960" cy="1645920"/>
          </a:xfrm>
          <a:prstGeom prst="rect">
            <a:avLst/>
          </a:prstGeom>
          <a:noFill/>
          <a:ln/>
        </p:spPr>
        <p:txBody>
          <a:bodyPr wrap="square" lIns="0" tIns="0" rIns="0" bIns="0" rtlCol="0" anchor="t"/>
          <a:lstStyle/>
          <a:p>
            <a:pPr indent="0" marL="0">
              <a:buNone/>
            </a:pPr>
            <a:r>
              <a:rPr lang="en-US" sz="1500" dirty="0">
                <a:solidFill>
                  <a:schemeClr val="accent6"/>
                </a:solidFill>
              </a:rPr>
              <a:t>MAE (main), RMSE, R², and MAE on the top-10 nations (the paper’s second objective)</a:t>
            </a:r>
            <a:endParaRPr lang="en-US" sz="1500" dirty="0"/>
          </a:p>
        </p:txBody>
      </p:sp>
      <p:sp>
        <p:nvSpPr>
          <p:cNvPr id="22" name="Medal disc"/>
          <p:cNvSpPr/>
          <p:nvPr/>
        </p:nvSpPr>
        <p:spPr>
          <a:xfrm>
            <a:off x="8046720" y="3794760"/>
            <a:ext cx="256032" cy="256032"/>
          </a:xfrm>
          <a:prstGeom prst="ellipse">
            <a:avLst/>
          </a:prstGeom>
          <a:solidFill>
            <a:srgbClr val="A86A3D"/>
          </a:solidFill>
          <a:ln w="12700">
            <a:solidFill>
              <a:srgbClr val="A86A3D"/>
            </a:solidFill>
            <a:prstDash val="solid"/>
          </a:ln>
        </p:spPr>
      </p:sp>
      <p:sp>
        <p:nvSpPr>
          <p:cNvPr id="23" name="Text 20"/>
          <p:cNvSpPr txBox="1"/>
          <p:nvPr/>
        </p:nvSpPr>
        <p:spPr>
          <a:xfrm>
            <a:off x="8458200" y="3730752"/>
            <a:ext cx="3108960" cy="411480"/>
          </a:xfrm>
          <a:prstGeom prst="rect">
            <a:avLst/>
          </a:prstGeom>
          <a:noFill/>
          <a:ln/>
        </p:spPr>
        <p:txBody>
          <a:bodyPr wrap="square" lIns="0" tIns="0" rIns="0" bIns="0" rtlCol="0" anchor="t"/>
          <a:lstStyle/>
          <a:p>
            <a:pPr indent="0" marL="0">
              <a:buNone/>
            </a:pPr>
            <a:r>
              <a:rPr lang="en-US" sz="1800" b="1" dirty="0">
                <a:solidFill>
                  <a:schemeClr val="tx1"/>
                </a:solidFill>
              </a:rPr>
              <a:t>Robustness</a:t>
            </a:r>
            <a:endParaRPr lang="en-US" sz="1800" dirty="0"/>
          </a:p>
        </p:txBody>
      </p:sp>
      <p:sp>
        <p:nvSpPr>
          <p:cNvPr id="24" name="Text 21"/>
          <p:cNvSpPr txBox="1"/>
          <p:nvPr/>
        </p:nvSpPr>
        <p:spPr>
          <a:xfrm>
            <a:off x="8458200" y="4206240"/>
            <a:ext cx="3108960" cy="1645920"/>
          </a:xfrm>
          <a:prstGeom prst="rect">
            <a:avLst/>
          </a:prstGeom>
          <a:noFill/>
          <a:ln/>
        </p:spPr>
        <p:txBody>
          <a:bodyPr wrap="square" lIns="0" tIns="0" rIns="0" bIns="0" rtlCol="0" anchor="t"/>
          <a:lstStyle/>
          <a:p>
            <a:pPr indent="0" marL="0">
              <a:buNone/>
            </a:pPr>
            <a:r>
              <a:rPr lang="en-US" sz="1500" dirty="0">
                <a:solidFill>
                  <a:schemeClr val="accent6"/>
                </a:solidFill>
              </a:rPr>
              <a:t>Rolling-origin backtest on 1996–2016, five seeds, paired bootstrap on 2016 errors</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chemeClr val="tx1"/>
                </a:solidFill>
              </a:rPr>
              <a:t>Rio 2016: predicting momentum cuts error by 19%</a:t>
            </a:r>
            <a:endParaRPr lang="en-US" sz="3400" dirty="0"/>
          </a:p>
        </p:txBody>
      </p:sp>
      <p:graphicFrame>
        <p:nvGraphicFramePr>
          <p:cNvPr id="4" name="MAE chart" descr=""/>
          <p:cNvGraphicFramePr/>
          <p:nvPr/>
        </p:nvGraphicFramePr>
        <p:xfrm>
          <a:off x="548640" y="1371600"/>
          <a:ext cx="6583680" cy="4663440"/>
        </p:xfrm>
        <a:graphic xmlns:a="http://schemas.openxmlformats.org/drawingml/2006/main">
          <a:graphicData uri="http://schemas.openxmlformats.org/drawingml/2006/chart">
            <c:chart xmlns:c="http://schemas.openxmlformats.org/drawingml/2006/chart" r:id="rId1"/>
          </a:graphicData>
        </a:graphic>
      </p:graphicFrame>
      <p:graphicFrame>
        <p:nvGraphicFramePr>
          <p:cNvPr id="10" name="Metrics table"/>
          <p:cNvGraphicFramePr>
            <a:graphicFrameLocks noGrp="1"/>
          </p:cNvGraphicFramePr>
          <p:nvPr>
            <p:extLst>
              <p:ext uri="{D42A27DB-BD31-4B8C-83A1-F6EECF244321}">
                <p14:modId xmlns:p14="http://schemas.microsoft.com/office/powerpoint/2010/main" val="1579011935"/>
              </p:ext>
            </p:extLst>
          </p:nvPr>
        </p:nvGraphicFramePr>
        <p:xfrm>
          <a:off x="7406640" y="1463040"/>
          <a:ext cx="4251960" cy="914400"/>
        </p:xfrm>
        <a:graphic>
          <a:graphicData uri="http://schemas.openxmlformats.org/drawingml/2006/table">
            <a:tbl>
              <a:tblPr/>
              <a:tblGrid>
                <a:gridCol w="1600200"/>
                <a:gridCol w="640080"/>
                <a:gridCol w="640080"/>
                <a:gridCol w="685800"/>
                <a:gridCol w="685800"/>
              </a:tblGrid>
              <a:tr h="329184">
                <a:tc>
                  <a:txBody>
                    <a:bodyPr/>
                    <a:lstStyle/>
                    <a:p>
                      <a:pPr algn="l" indent="0" marL="0">
                        <a:buNone/>
                      </a:pPr>
                      <a:r>
                        <a:rPr lang="en-US" sz="1100" b="1" dirty="0">
                          <a:solidFill>
                            <a:schemeClr val="bg1"/>
                          </a:solidFill>
                        </a:rPr>
                        <a:t>Model</a:t>
                      </a:r>
                      <a:endParaRPr lang="en-US" sz="1100" dirty="0"/>
                    </a:p>
                  </a:txBody>
                  <a:tcPr marL="54864" marR="54864"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13223A"/>
                    </a:solidFill>
                  </a:tcPr>
                </a:tc>
                <a:tc>
                  <a:txBody>
                    <a:bodyPr/>
                    <a:lstStyle/>
                    <a:p>
                      <a:pPr algn="l" indent="0" marL="0">
                        <a:buNone/>
                      </a:pPr>
                      <a:r>
                        <a:rPr lang="en-US" sz="1100" b="1" dirty="0">
                          <a:solidFill>
                            <a:schemeClr val="bg1"/>
                          </a:solidFill>
                        </a:rPr>
                        <a:t>MAE</a:t>
                      </a:r>
                      <a:endParaRPr lang="en-US" sz="1100" dirty="0"/>
                    </a:p>
                  </a:txBody>
                  <a:tcPr marL="54864" marR="54864"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13223A"/>
                    </a:solidFill>
                  </a:tcPr>
                </a:tc>
                <a:tc>
                  <a:txBody>
                    <a:bodyPr/>
                    <a:lstStyle/>
                    <a:p>
                      <a:pPr algn="l" indent="0" marL="0">
                        <a:buNone/>
                      </a:pPr>
                      <a:r>
                        <a:rPr lang="en-US" sz="1100" b="1" dirty="0">
                          <a:solidFill>
                            <a:schemeClr val="bg1"/>
                          </a:solidFill>
                        </a:rPr>
                        <a:t>RMSE</a:t>
                      </a:r>
                      <a:endParaRPr lang="en-US" sz="1100" dirty="0"/>
                    </a:p>
                  </a:txBody>
                  <a:tcPr marL="54864" marR="54864"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13223A"/>
                    </a:solidFill>
                  </a:tcPr>
                </a:tc>
                <a:tc>
                  <a:txBody>
                    <a:bodyPr/>
                    <a:lstStyle/>
                    <a:p>
                      <a:pPr algn="l" indent="0" marL="0">
                        <a:buNone/>
                      </a:pPr>
                      <a:r>
                        <a:rPr lang="en-US" sz="1100" b="1" dirty="0">
                          <a:solidFill>
                            <a:schemeClr val="bg1"/>
                          </a:solidFill>
                        </a:rPr>
                        <a:t>R²</a:t>
                      </a:r>
                      <a:endParaRPr lang="en-US" sz="1100" dirty="0"/>
                    </a:p>
                  </a:txBody>
                  <a:tcPr marL="54864" marR="54864"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13223A"/>
                    </a:solidFill>
                  </a:tcPr>
                </a:tc>
                <a:tc>
                  <a:txBody>
                    <a:bodyPr/>
                    <a:lstStyle/>
                    <a:p>
                      <a:pPr algn="l" indent="0" marL="0">
                        <a:buNone/>
                      </a:pPr>
                      <a:r>
                        <a:rPr lang="en-US" sz="1100" b="1" dirty="0">
                          <a:solidFill>
                            <a:schemeClr val="bg1"/>
                          </a:solidFill>
                        </a:rPr>
                        <a:t>Top-10</a:t>
                      </a:r>
                      <a:endParaRPr lang="en-US" sz="1100" dirty="0"/>
                    </a:p>
                  </a:txBody>
                  <a:tcPr marL="54864" marR="54864"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13223A"/>
                    </a:solidFill>
                  </a:tcPr>
                </a:tc>
              </a:tr>
              <a:tr h="329184">
                <a:tc>
                  <a:txBody>
                    <a:bodyPr/>
                    <a:lstStyle/>
                    <a:p>
                      <a:pPr algn="l" indent="0" marL="0">
                        <a:buNone/>
                      </a:pPr>
                      <a:r>
                        <a:rPr lang="en-US" sz="1100" dirty="0">
                          <a:solidFill>
                            <a:schemeClr val="tx1"/>
                          </a:solidFill>
                        </a:rPr>
                        <a:t>Baseline</a:t>
                      </a:r>
                      <a:endParaRPr lang="en-US" sz="1100" dirty="0"/>
                    </a:p>
                  </a:txBody>
                  <a:tcPr marL="54864" marR="54864"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FFFFF"/>
                    </a:solidFill>
                  </a:tcPr>
                </a:tc>
                <a:tc>
                  <a:txBody>
                    <a:bodyPr/>
                    <a:lstStyle/>
                    <a:p>
                      <a:pPr algn="l" indent="0" marL="0">
                        <a:buNone/>
                      </a:pPr>
                      <a:r>
                        <a:rPr lang="en-US" sz="1100" dirty="0">
                          <a:solidFill>
                            <a:schemeClr val="tx1"/>
                          </a:solidFill>
                        </a:rPr>
                        <a:t>1.606</a:t>
                      </a:r>
                      <a:endParaRPr lang="en-US" sz="1100" dirty="0"/>
                    </a:p>
                  </a:txBody>
                  <a:tcPr marL="54864" marR="54864"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FFFFF"/>
                    </a:solidFill>
                  </a:tcPr>
                </a:tc>
                <a:tc>
                  <a:txBody>
                    <a:bodyPr/>
                    <a:lstStyle/>
                    <a:p>
                      <a:pPr algn="l" indent="0" marL="0">
                        <a:buNone/>
                      </a:pPr>
                      <a:r>
                        <a:rPr lang="en-US" sz="1100" dirty="0">
                          <a:solidFill>
                            <a:schemeClr val="tx1"/>
                          </a:solidFill>
                        </a:rPr>
                        <a:t>3.85</a:t>
                      </a:r>
                      <a:endParaRPr lang="en-US" sz="1100" dirty="0"/>
                    </a:p>
                  </a:txBody>
                  <a:tcPr marL="54864" marR="54864"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FFFFF"/>
                    </a:solidFill>
                  </a:tcPr>
                </a:tc>
                <a:tc>
                  <a:txBody>
                    <a:bodyPr/>
                    <a:lstStyle/>
                    <a:p>
                      <a:pPr algn="l" indent="0" marL="0">
                        <a:buNone/>
                      </a:pPr>
                      <a:r>
                        <a:rPr lang="en-US" sz="1100" dirty="0">
                          <a:solidFill>
                            <a:schemeClr val="tx1"/>
                          </a:solidFill>
                        </a:rPr>
                        <a:t>0.913</a:t>
                      </a:r>
                      <a:endParaRPr lang="en-US" sz="1100" dirty="0"/>
                    </a:p>
                  </a:txBody>
                  <a:tcPr marL="54864" marR="54864"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FFFFF"/>
                    </a:solidFill>
                  </a:tcPr>
                </a:tc>
                <a:tc>
                  <a:txBody>
                    <a:bodyPr/>
                    <a:lstStyle/>
                    <a:p>
                      <a:pPr algn="l" indent="0" marL="0">
                        <a:buNone/>
                      </a:pPr>
                      <a:r>
                        <a:rPr lang="en-US" sz="1100" dirty="0">
                          <a:solidFill>
                            <a:schemeClr val="tx1"/>
                          </a:solidFill>
                        </a:rPr>
                        <a:t>12.26</a:t>
                      </a:r>
                      <a:endParaRPr lang="en-US" sz="1100" dirty="0"/>
                    </a:p>
                  </a:txBody>
                  <a:tcPr marL="54864" marR="54864"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chemeClr val="tx1"/>
                          </a:solidFill>
                        </a:rPr>
                        <a:t>Historical</a:t>
                      </a:r>
                      <a:endParaRPr lang="en-US" sz="1100" dirty="0"/>
                    </a:p>
                  </a:txBody>
                  <a:tcPr marL="54864" marR="54864"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FFFFF"/>
                    </a:solidFill>
                  </a:tcPr>
                </a:tc>
                <a:tc>
                  <a:txBody>
                    <a:bodyPr/>
                    <a:lstStyle/>
                    <a:p>
                      <a:pPr algn="l" indent="0" marL="0">
                        <a:buNone/>
                      </a:pPr>
                      <a:r>
                        <a:rPr lang="en-US" sz="1100" dirty="0">
                          <a:solidFill>
                            <a:schemeClr val="tx1"/>
                          </a:solidFill>
                        </a:rPr>
                        <a:t>1.474</a:t>
                      </a:r>
                      <a:endParaRPr lang="en-US" sz="1100" dirty="0"/>
                    </a:p>
                  </a:txBody>
                  <a:tcPr marL="54864" marR="54864"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FFFFF"/>
                    </a:solidFill>
                  </a:tcPr>
                </a:tc>
                <a:tc>
                  <a:txBody>
                    <a:bodyPr/>
                    <a:lstStyle/>
                    <a:p>
                      <a:pPr algn="l" indent="0" marL="0">
                        <a:buNone/>
                      </a:pPr>
                      <a:r>
                        <a:rPr lang="en-US" sz="1100" dirty="0">
                          <a:solidFill>
                            <a:schemeClr val="tx1"/>
                          </a:solidFill>
                        </a:rPr>
                        <a:t>3.76</a:t>
                      </a:r>
                      <a:endParaRPr lang="en-US" sz="1100" dirty="0"/>
                    </a:p>
                  </a:txBody>
                  <a:tcPr marL="54864" marR="54864"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FFFFF"/>
                    </a:solidFill>
                  </a:tcPr>
                </a:tc>
                <a:tc>
                  <a:txBody>
                    <a:bodyPr/>
                    <a:lstStyle/>
                    <a:p>
                      <a:pPr algn="l" indent="0" marL="0">
                        <a:buNone/>
                      </a:pPr>
                      <a:r>
                        <a:rPr lang="en-US" sz="1100" dirty="0">
                          <a:solidFill>
                            <a:schemeClr val="tx1"/>
                          </a:solidFill>
                        </a:rPr>
                        <a:t>0.916</a:t>
                      </a:r>
                      <a:endParaRPr lang="en-US" sz="1100" dirty="0"/>
                    </a:p>
                  </a:txBody>
                  <a:tcPr marL="54864" marR="54864"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FFFFF"/>
                    </a:solidFill>
                  </a:tcPr>
                </a:tc>
                <a:tc>
                  <a:txBody>
                    <a:bodyPr/>
                    <a:lstStyle/>
                    <a:p>
                      <a:pPr algn="l" indent="0" marL="0">
                        <a:buNone/>
                      </a:pPr>
                      <a:r>
                        <a:rPr lang="en-US" sz="1100" dirty="0">
                          <a:solidFill>
                            <a:schemeClr val="tx1"/>
                          </a:solidFill>
                        </a:rPr>
                        <a:t>11.91</a:t>
                      </a:r>
                      <a:endParaRPr lang="en-US" sz="1100" dirty="0"/>
                    </a:p>
                  </a:txBody>
                  <a:tcPr marL="54864" marR="54864"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chemeClr val="tx1"/>
                          </a:solidFill>
                        </a:rPr>
                        <a:t>Hist. + Score</a:t>
                      </a:r>
                      <a:endParaRPr lang="en-US" sz="1100" dirty="0"/>
                    </a:p>
                  </a:txBody>
                  <a:tcPr marL="54864" marR="54864"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FFFFF"/>
                    </a:solidFill>
                  </a:tcPr>
                </a:tc>
                <a:tc>
                  <a:txBody>
                    <a:bodyPr/>
                    <a:lstStyle/>
                    <a:p>
                      <a:pPr algn="l" indent="0" marL="0">
                        <a:buNone/>
                      </a:pPr>
                      <a:r>
                        <a:rPr lang="en-US" sz="1100" dirty="0">
                          <a:solidFill>
                            <a:schemeClr val="tx1"/>
                          </a:solidFill>
                        </a:rPr>
                        <a:t>1.501</a:t>
                      </a:r>
                      <a:endParaRPr lang="en-US" sz="1100" dirty="0"/>
                    </a:p>
                  </a:txBody>
                  <a:tcPr marL="54864" marR="54864"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FFFFF"/>
                    </a:solidFill>
                  </a:tcPr>
                </a:tc>
                <a:tc>
                  <a:txBody>
                    <a:bodyPr/>
                    <a:lstStyle/>
                    <a:p>
                      <a:pPr algn="l" indent="0" marL="0">
                        <a:buNone/>
                      </a:pPr>
                      <a:r>
                        <a:rPr lang="en-US" sz="1100" dirty="0">
                          <a:solidFill>
                            <a:schemeClr val="tx1"/>
                          </a:solidFill>
                        </a:rPr>
                        <a:t>3.81</a:t>
                      </a:r>
                      <a:endParaRPr lang="en-US" sz="1100" dirty="0"/>
                    </a:p>
                  </a:txBody>
                  <a:tcPr marL="54864" marR="54864"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FFFFF"/>
                    </a:solidFill>
                  </a:tcPr>
                </a:tc>
                <a:tc>
                  <a:txBody>
                    <a:bodyPr/>
                    <a:lstStyle/>
                    <a:p>
                      <a:pPr algn="l" indent="0" marL="0">
                        <a:buNone/>
                      </a:pPr>
                      <a:r>
                        <a:rPr lang="en-US" sz="1100" dirty="0">
                          <a:solidFill>
                            <a:schemeClr val="tx1"/>
                          </a:solidFill>
                        </a:rPr>
                        <a:t>0.914</a:t>
                      </a:r>
                      <a:endParaRPr lang="en-US" sz="1100" dirty="0"/>
                    </a:p>
                  </a:txBody>
                  <a:tcPr marL="54864" marR="54864"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FFFFF"/>
                    </a:solidFill>
                  </a:tcPr>
                </a:tc>
                <a:tc>
                  <a:txBody>
                    <a:bodyPr/>
                    <a:lstStyle/>
                    <a:p>
                      <a:pPr algn="l" indent="0" marL="0">
                        <a:buNone/>
                      </a:pPr>
                      <a:r>
                        <a:rPr lang="en-US" sz="1100" dirty="0">
                          <a:solidFill>
                            <a:schemeClr val="tx1"/>
                          </a:solidFill>
                        </a:rPr>
                        <a:t>12.26</a:t>
                      </a:r>
                      <a:endParaRPr lang="en-US" sz="1100" dirty="0"/>
                    </a:p>
                  </a:txBody>
                  <a:tcPr marL="54864" marR="54864"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chemeClr val="tx1"/>
                          </a:solidFill>
                        </a:rPr>
                        <a:t>Hist. + Economic</a:t>
                      </a:r>
                      <a:endParaRPr lang="en-US" sz="1100" dirty="0"/>
                    </a:p>
                  </a:txBody>
                  <a:tcPr marL="54864" marR="54864"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FFFFF"/>
                    </a:solidFill>
                  </a:tcPr>
                </a:tc>
                <a:tc>
                  <a:txBody>
                    <a:bodyPr/>
                    <a:lstStyle/>
                    <a:p>
                      <a:pPr algn="l" indent="0" marL="0">
                        <a:buNone/>
                      </a:pPr>
                      <a:r>
                        <a:rPr lang="en-US" sz="1100" dirty="0">
                          <a:solidFill>
                            <a:schemeClr val="tx1"/>
                          </a:solidFill>
                        </a:rPr>
                        <a:t>1.461</a:t>
                      </a:r>
                      <a:endParaRPr lang="en-US" sz="1100" dirty="0"/>
                    </a:p>
                  </a:txBody>
                  <a:tcPr marL="54864" marR="54864"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FFFFF"/>
                    </a:solidFill>
                  </a:tcPr>
                </a:tc>
                <a:tc>
                  <a:txBody>
                    <a:bodyPr/>
                    <a:lstStyle/>
                    <a:p>
                      <a:pPr algn="l" indent="0" marL="0">
                        <a:buNone/>
                      </a:pPr>
                      <a:r>
                        <a:rPr lang="en-US" sz="1100" dirty="0">
                          <a:solidFill>
                            <a:schemeClr val="tx1"/>
                          </a:solidFill>
                        </a:rPr>
                        <a:t>3.68</a:t>
                      </a:r>
                      <a:endParaRPr lang="en-US" sz="1100" dirty="0"/>
                    </a:p>
                  </a:txBody>
                  <a:tcPr marL="54864" marR="54864"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FFFFF"/>
                    </a:solidFill>
                  </a:tcPr>
                </a:tc>
                <a:tc>
                  <a:txBody>
                    <a:bodyPr/>
                    <a:lstStyle/>
                    <a:p>
                      <a:pPr algn="l" indent="0" marL="0">
                        <a:buNone/>
                      </a:pPr>
                      <a:r>
                        <a:rPr lang="en-US" sz="1100" dirty="0">
                          <a:solidFill>
                            <a:schemeClr val="tx1"/>
                          </a:solidFill>
                        </a:rPr>
                        <a:t>0.920</a:t>
                      </a:r>
                      <a:endParaRPr lang="en-US" sz="1100" dirty="0"/>
                    </a:p>
                  </a:txBody>
                  <a:tcPr marL="54864" marR="54864"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FFFFF"/>
                    </a:solidFill>
                  </a:tcPr>
                </a:tc>
                <a:tc>
                  <a:txBody>
                    <a:bodyPr/>
                    <a:lstStyle/>
                    <a:p>
                      <a:pPr algn="l" indent="0" marL="0">
                        <a:buNone/>
                      </a:pPr>
                      <a:r>
                        <a:rPr lang="en-US" sz="1100" dirty="0">
                          <a:solidFill>
                            <a:schemeClr val="tx1"/>
                          </a:solidFill>
                        </a:rPr>
                        <a:t>11.07</a:t>
                      </a:r>
                      <a:endParaRPr lang="en-US" sz="1100" dirty="0"/>
                    </a:p>
                  </a:txBody>
                  <a:tcPr marL="54864" marR="54864"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chemeClr val="tx1"/>
                          </a:solidFill>
                        </a:rPr>
                        <a:t>Two-Stage</a:t>
                      </a:r>
                      <a:endParaRPr lang="en-US" sz="1100" dirty="0"/>
                    </a:p>
                  </a:txBody>
                  <a:tcPr marL="54864" marR="54864"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FFFFF"/>
                    </a:solidFill>
                  </a:tcPr>
                </a:tc>
                <a:tc>
                  <a:txBody>
                    <a:bodyPr/>
                    <a:lstStyle/>
                    <a:p>
                      <a:pPr algn="l" indent="0" marL="0">
                        <a:buNone/>
                      </a:pPr>
                      <a:r>
                        <a:rPr lang="en-US" sz="1100" dirty="0">
                          <a:solidFill>
                            <a:schemeClr val="tx1"/>
                          </a:solidFill>
                        </a:rPr>
                        <a:t>1.442</a:t>
                      </a:r>
                      <a:endParaRPr lang="en-US" sz="1100" dirty="0"/>
                    </a:p>
                  </a:txBody>
                  <a:tcPr marL="54864" marR="54864"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FFFFF"/>
                    </a:solidFill>
                  </a:tcPr>
                </a:tc>
                <a:tc>
                  <a:txBody>
                    <a:bodyPr/>
                    <a:lstStyle/>
                    <a:p>
                      <a:pPr algn="l" indent="0" marL="0">
                        <a:buNone/>
                      </a:pPr>
                      <a:r>
                        <a:rPr lang="en-US" sz="1100" dirty="0">
                          <a:solidFill>
                            <a:schemeClr val="tx1"/>
                          </a:solidFill>
                        </a:rPr>
                        <a:t>3.75</a:t>
                      </a:r>
                      <a:endParaRPr lang="en-US" sz="1100" dirty="0"/>
                    </a:p>
                  </a:txBody>
                  <a:tcPr marL="54864" marR="54864"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FFFFF"/>
                    </a:solidFill>
                  </a:tcPr>
                </a:tc>
                <a:tc>
                  <a:txBody>
                    <a:bodyPr/>
                    <a:lstStyle/>
                    <a:p>
                      <a:pPr algn="l" indent="0" marL="0">
                        <a:buNone/>
                      </a:pPr>
                      <a:r>
                        <a:rPr lang="en-US" sz="1100" dirty="0">
                          <a:solidFill>
                            <a:schemeClr val="tx1"/>
                          </a:solidFill>
                        </a:rPr>
                        <a:t>0.917</a:t>
                      </a:r>
                      <a:endParaRPr lang="en-US" sz="1100" dirty="0"/>
                    </a:p>
                  </a:txBody>
                  <a:tcPr marL="54864" marR="54864"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FFFFF"/>
                    </a:solidFill>
                  </a:tcPr>
                </a:tc>
                <a:tc>
                  <a:txBody>
                    <a:bodyPr/>
                    <a:lstStyle/>
                    <a:p>
                      <a:pPr algn="l" indent="0" marL="0">
                        <a:buNone/>
                      </a:pPr>
                      <a:r>
                        <a:rPr lang="en-US" sz="1100" dirty="0">
                          <a:solidFill>
                            <a:schemeClr val="tx1"/>
                          </a:solidFill>
                        </a:rPr>
                        <a:t>11.34</a:t>
                      </a:r>
                      <a:endParaRPr lang="en-US" sz="1100" dirty="0"/>
                    </a:p>
                  </a:txBody>
                  <a:tcPr marL="54864" marR="54864"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FFFFF"/>
                    </a:solidFill>
                  </a:tcPr>
                </a:tc>
              </a:tr>
              <a:tr h="329184">
                <a:tc>
                  <a:txBody>
                    <a:bodyPr/>
                    <a:lstStyle/>
                    <a:p>
                      <a:pPr algn="l" indent="0" marL="0">
                        <a:buNone/>
                      </a:pPr>
                      <a:r>
                        <a:rPr lang="en-US" sz="1100" b="1" dirty="0">
                          <a:solidFill>
                            <a:schemeClr val="tx1"/>
                          </a:solidFill>
                        </a:rPr>
                        <a:t>Momentum Target</a:t>
                      </a:r>
                      <a:endParaRPr lang="en-US" sz="1100" dirty="0"/>
                    </a:p>
                  </a:txBody>
                  <a:tcPr marL="54864" marR="54864"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BF3DF"/>
                    </a:solidFill>
                  </a:tcPr>
                </a:tc>
                <a:tc>
                  <a:txBody>
                    <a:bodyPr/>
                    <a:lstStyle/>
                    <a:p>
                      <a:pPr algn="l" indent="0" marL="0">
                        <a:buNone/>
                      </a:pPr>
                      <a:r>
                        <a:rPr lang="en-US" sz="1100" b="1" dirty="0">
                          <a:solidFill>
                            <a:schemeClr val="tx1"/>
                          </a:solidFill>
                        </a:rPr>
                        <a:t>1.298</a:t>
                      </a:r>
                      <a:endParaRPr lang="en-US" sz="1100" dirty="0"/>
                    </a:p>
                  </a:txBody>
                  <a:tcPr marL="54864" marR="54864"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BF3DF"/>
                    </a:solidFill>
                  </a:tcPr>
                </a:tc>
                <a:tc>
                  <a:txBody>
                    <a:bodyPr/>
                    <a:lstStyle/>
                    <a:p>
                      <a:pPr algn="l" indent="0" marL="0">
                        <a:buNone/>
                      </a:pPr>
                      <a:r>
                        <a:rPr lang="en-US" sz="1100" b="1" dirty="0">
                          <a:solidFill>
                            <a:schemeClr val="tx1"/>
                          </a:solidFill>
                        </a:rPr>
                        <a:t>3.37</a:t>
                      </a:r>
                      <a:endParaRPr lang="en-US" sz="1100" dirty="0"/>
                    </a:p>
                  </a:txBody>
                  <a:tcPr marL="54864" marR="54864"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BF3DF"/>
                    </a:solidFill>
                  </a:tcPr>
                </a:tc>
                <a:tc>
                  <a:txBody>
                    <a:bodyPr/>
                    <a:lstStyle/>
                    <a:p>
                      <a:pPr algn="l" indent="0" marL="0">
                        <a:buNone/>
                      </a:pPr>
                      <a:r>
                        <a:rPr lang="en-US" sz="1100" b="1" dirty="0">
                          <a:solidFill>
                            <a:schemeClr val="tx1"/>
                          </a:solidFill>
                        </a:rPr>
                        <a:t>0.933</a:t>
                      </a:r>
                      <a:endParaRPr lang="en-US" sz="1100" dirty="0"/>
                    </a:p>
                  </a:txBody>
                  <a:tcPr marL="54864" marR="54864"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BF3DF"/>
                    </a:solidFill>
                  </a:tcPr>
                </a:tc>
                <a:tc>
                  <a:txBody>
                    <a:bodyPr/>
                    <a:lstStyle/>
                    <a:p>
                      <a:pPr algn="l" indent="0" marL="0">
                        <a:buNone/>
                      </a:pPr>
                      <a:r>
                        <a:rPr lang="en-US" sz="1100" b="1" dirty="0">
                          <a:solidFill>
                            <a:schemeClr val="tx1"/>
                          </a:solidFill>
                        </a:rPr>
                        <a:t>10.14</a:t>
                      </a:r>
                      <a:endParaRPr lang="en-US" sz="1100" dirty="0"/>
                    </a:p>
                  </a:txBody>
                  <a:tcPr marL="54864" marR="54864"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BF3DF"/>
                    </a:solidFill>
                  </a:tcPr>
                </a:tc>
              </a:tr>
              <a:tr h="329184">
                <a:tc>
                  <a:txBody>
                    <a:bodyPr/>
                    <a:lstStyle/>
                    <a:p>
                      <a:pPr algn="l" indent="0" marL="0">
                        <a:buNone/>
                      </a:pPr>
                      <a:r>
                        <a:rPr lang="en-US" sz="1100" dirty="0">
                          <a:solidFill>
                            <a:schemeClr val="tx1"/>
                          </a:solidFill>
                        </a:rPr>
                        <a:t>Mom. + Score</a:t>
                      </a:r>
                      <a:endParaRPr lang="en-US" sz="1100" dirty="0"/>
                    </a:p>
                  </a:txBody>
                  <a:tcPr marL="54864" marR="54864"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FFFFF"/>
                    </a:solidFill>
                  </a:tcPr>
                </a:tc>
                <a:tc>
                  <a:txBody>
                    <a:bodyPr/>
                    <a:lstStyle/>
                    <a:p>
                      <a:pPr algn="l" indent="0" marL="0">
                        <a:buNone/>
                      </a:pPr>
                      <a:r>
                        <a:rPr lang="en-US" sz="1100" dirty="0">
                          <a:solidFill>
                            <a:schemeClr val="tx1"/>
                          </a:solidFill>
                        </a:rPr>
                        <a:t>1.296</a:t>
                      </a:r>
                      <a:endParaRPr lang="en-US" sz="1100" dirty="0"/>
                    </a:p>
                  </a:txBody>
                  <a:tcPr marL="54864" marR="54864"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FFFFF"/>
                    </a:solidFill>
                  </a:tcPr>
                </a:tc>
                <a:tc>
                  <a:txBody>
                    <a:bodyPr/>
                    <a:lstStyle/>
                    <a:p>
                      <a:pPr algn="l" indent="0" marL="0">
                        <a:buNone/>
                      </a:pPr>
                      <a:r>
                        <a:rPr lang="en-US" sz="1100" dirty="0">
                          <a:solidFill>
                            <a:schemeClr val="tx1"/>
                          </a:solidFill>
                        </a:rPr>
                        <a:t>3.39</a:t>
                      </a:r>
                      <a:endParaRPr lang="en-US" sz="1100" dirty="0"/>
                    </a:p>
                  </a:txBody>
                  <a:tcPr marL="54864" marR="54864"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FFFFF"/>
                    </a:solidFill>
                  </a:tcPr>
                </a:tc>
                <a:tc>
                  <a:txBody>
                    <a:bodyPr/>
                    <a:lstStyle/>
                    <a:p>
                      <a:pPr algn="l" indent="0" marL="0">
                        <a:buNone/>
                      </a:pPr>
                      <a:r>
                        <a:rPr lang="en-US" sz="1100" dirty="0">
                          <a:solidFill>
                            <a:schemeClr val="tx1"/>
                          </a:solidFill>
                        </a:rPr>
                        <a:t>0.932</a:t>
                      </a:r>
                      <a:endParaRPr lang="en-US" sz="1100" dirty="0"/>
                    </a:p>
                  </a:txBody>
                  <a:tcPr marL="54864" marR="54864"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FFFFF"/>
                    </a:solidFill>
                  </a:tcPr>
                </a:tc>
                <a:tc>
                  <a:txBody>
                    <a:bodyPr/>
                    <a:lstStyle/>
                    <a:p>
                      <a:pPr algn="l" indent="0" marL="0">
                        <a:buNone/>
                      </a:pPr>
                      <a:r>
                        <a:rPr lang="en-US" sz="1100" dirty="0">
                          <a:solidFill>
                            <a:schemeClr val="tx1"/>
                          </a:solidFill>
                        </a:rPr>
                        <a:t>10.16</a:t>
                      </a:r>
                      <a:endParaRPr lang="en-US" sz="1100" dirty="0"/>
                    </a:p>
                  </a:txBody>
                  <a:tcPr marL="54864" marR="54864"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FFFFF"/>
                    </a:solidFill>
                  </a:tcPr>
                </a:tc>
              </a:tr>
              <a:tr h="329184">
                <a:tc>
                  <a:txBody>
                    <a:bodyPr/>
                    <a:lstStyle/>
                    <a:p>
                      <a:pPr algn="l" indent="0" marL="0">
                        <a:buNone/>
                      </a:pPr>
                      <a:r>
                        <a:rPr lang="en-US" sz="1100" dirty="0">
                          <a:solidFill>
                            <a:schemeClr val="tx1"/>
                          </a:solidFill>
                        </a:rPr>
                        <a:t>Mom. + Economic</a:t>
                      </a:r>
                      <a:endParaRPr lang="en-US" sz="1100" dirty="0"/>
                    </a:p>
                  </a:txBody>
                  <a:tcPr marL="54864" marR="54864"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FFFFF"/>
                    </a:solidFill>
                  </a:tcPr>
                </a:tc>
                <a:tc>
                  <a:txBody>
                    <a:bodyPr/>
                    <a:lstStyle/>
                    <a:p>
                      <a:pPr algn="l" indent="0" marL="0">
                        <a:buNone/>
                      </a:pPr>
                      <a:r>
                        <a:rPr lang="en-US" sz="1100" dirty="0">
                          <a:solidFill>
                            <a:schemeClr val="tx1"/>
                          </a:solidFill>
                        </a:rPr>
                        <a:t>1.307</a:t>
                      </a:r>
                      <a:endParaRPr lang="en-US" sz="1100" dirty="0"/>
                    </a:p>
                  </a:txBody>
                  <a:tcPr marL="54864" marR="54864"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FFFFF"/>
                    </a:solidFill>
                  </a:tcPr>
                </a:tc>
                <a:tc>
                  <a:txBody>
                    <a:bodyPr/>
                    <a:lstStyle/>
                    <a:p>
                      <a:pPr algn="l" indent="0" marL="0">
                        <a:buNone/>
                      </a:pPr>
                      <a:r>
                        <a:rPr lang="en-US" sz="1100" dirty="0">
                          <a:solidFill>
                            <a:schemeClr val="tx1"/>
                          </a:solidFill>
                        </a:rPr>
                        <a:t>3.38</a:t>
                      </a:r>
                      <a:endParaRPr lang="en-US" sz="1100" dirty="0"/>
                    </a:p>
                  </a:txBody>
                  <a:tcPr marL="54864" marR="54864"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FFFFF"/>
                    </a:solidFill>
                  </a:tcPr>
                </a:tc>
                <a:tc>
                  <a:txBody>
                    <a:bodyPr/>
                    <a:lstStyle/>
                    <a:p>
                      <a:pPr algn="l" indent="0" marL="0">
                        <a:buNone/>
                      </a:pPr>
                      <a:r>
                        <a:rPr lang="en-US" sz="1100" dirty="0">
                          <a:solidFill>
                            <a:schemeClr val="tx1"/>
                          </a:solidFill>
                        </a:rPr>
                        <a:t>0.932</a:t>
                      </a:r>
                      <a:endParaRPr lang="en-US" sz="1100" dirty="0"/>
                    </a:p>
                  </a:txBody>
                  <a:tcPr marL="54864" marR="54864"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FFFFF"/>
                    </a:solidFill>
                  </a:tcPr>
                </a:tc>
                <a:tc>
                  <a:txBody>
                    <a:bodyPr/>
                    <a:lstStyle/>
                    <a:p>
                      <a:pPr algn="l" indent="0" marL="0">
                        <a:buNone/>
                      </a:pPr>
                      <a:r>
                        <a:rPr lang="en-US" sz="1100" dirty="0">
                          <a:solidFill>
                            <a:schemeClr val="tx1"/>
                          </a:solidFill>
                        </a:rPr>
                        <a:t>9.83</a:t>
                      </a:r>
                      <a:endParaRPr lang="en-US" sz="1100" dirty="0"/>
                    </a:p>
                  </a:txBody>
                  <a:tcPr marL="54864" marR="54864"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FFFFF"/>
                    </a:solidFill>
                  </a:tcPr>
                </a:tc>
              </a:tr>
            </a:tbl>
          </a:graphicData>
        </a:graphic>
      </p:graphicFrame>
      <p:sp>
        <p:nvSpPr>
          <p:cNvPr id="6" name="Text 1"/>
          <p:cNvSpPr txBox="1"/>
          <p:nvPr/>
        </p:nvSpPr>
        <p:spPr>
          <a:xfrm>
            <a:off x="7406640" y="4709160"/>
            <a:ext cx="4251960" cy="1371600"/>
          </a:xfrm>
          <a:prstGeom prst="rect">
            <a:avLst/>
          </a:prstGeom>
          <a:noFill/>
          <a:ln/>
        </p:spPr>
        <p:txBody>
          <a:bodyPr wrap="square" lIns="0" tIns="0" rIns="0" bIns="0" rtlCol="0" anchor="t"/>
          <a:lstStyle/>
          <a:p>
            <a:pPr indent="0" marL="0">
              <a:buNone/>
            </a:pPr>
            <a:r>
              <a:rPr lang="en-US" sz="1500" b="1" dirty="0">
                <a:solidFill>
                  <a:schemeClr val="tx1"/>
                </a:solidFill>
              </a:rPr>
              <a:t>12% lower MAE</a:t>
            </a:r>
            <a:endParaRPr lang="en-US" sz="1500" dirty="0"/>
          </a:p>
          <a:p>
            <a:pPr indent="0" marL="0">
              <a:buNone/>
            </a:pPr>
            <a:r>
              <a:rPr lang="en-US" sz="1500" dirty="0">
                <a:solidFill>
                  <a:schemeClr val="accent6"/>
                </a:solidFill>
              </a:rPr>
              <a:t>than the same nine features predicting the count</a:t>
            </a:r>
            <a:endParaRPr lang="en-US" sz="1500" dirty="0"/>
          </a:p>
          <a:p>
            <a:pPr indent="0" marL="0">
              <a:buNone/>
            </a:pPr>
            <a:r>
              <a:rPr lang="en-US" sz="1500" b="1" dirty="0">
                <a:solidFill>
                  <a:schemeClr val="tx1"/>
                </a:solidFill>
              </a:rPr>
              <a:t>12% lower RMSE</a:t>
            </a:r>
            <a:endParaRPr lang="en-US" sz="1500" dirty="0"/>
          </a:p>
          <a:p>
            <a:pPr indent="0" marL="0">
              <a:buNone/>
            </a:pPr>
            <a:r>
              <a:rPr lang="en-US" sz="1500" dirty="0">
                <a:solidFill>
                  <a:schemeClr val="accent6"/>
                </a:solidFill>
              </a:rPr>
              <a:t>than the previous-medals baseline</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chemeClr val="tx1"/>
                </a:solidFill>
              </a:rPr>
              <a:t>The gain holds in every Games from 1996 to 2016</a:t>
            </a:r>
            <a:endParaRPr lang="en-US" sz="3400" dirty="0"/>
          </a:p>
        </p:txBody>
      </p:sp>
      <p:graphicFrame>
        <p:nvGraphicFramePr>
          <p:cNvPr id="4" name="Backtest chart" descr=""/>
          <p:cNvGraphicFramePr/>
          <p:nvPr/>
        </p:nvGraphicFramePr>
        <p:xfrm>
          <a:off x="548640" y="1371600"/>
          <a:ext cx="7223760" cy="4663440"/>
        </p:xfrm>
        <a:graphic xmlns:a="http://schemas.openxmlformats.org/drawingml/2006/main">
          <a:graphicData uri="http://schemas.openxmlformats.org/drawingml/2006/chart">
            <c:chart xmlns:c="http://schemas.openxmlformats.org/drawingml/2006/chart" r:id="rId1"/>
          </a:graphicData>
        </a:graphic>
      </p:graphicFrame>
      <p:sp>
        <p:nvSpPr>
          <p:cNvPr id="5" name="Text 1"/>
          <p:cNvSpPr txBox="1"/>
          <p:nvPr/>
        </p:nvSpPr>
        <p:spPr>
          <a:xfrm>
            <a:off x="8138160" y="1463040"/>
            <a:ext cx="3566160" cy="685800"/>
          </a:xfrm>
          <a:prstGeom prst="rect">
            <a:avLst/>
          </a:prstGeom>
          <a:noFill/>
          <a:ln/>
        </p:spPr>
        <p:txBody>
          <a:bodyPr wrap="square" lIns="0" tIns="0" rIns="0" bIns="0" rtlCol="0" anchor="t"/>
          <a:lstStyle/>
          <a:p>
            <a:pPr indent="0" marL="0">
              <a:buNone/>
            </a:pPr>
            <a:r>
              <a:rPr lang="en-US" sz="3600" b="1" dirty="0">
                <a:solidFill>
                  <a:schemeClr val="tx1"/>
                </a:solidFill>
              </a:rPr>
              <a:t>6 of 6</a:t>
            </a:r>
            <a:endParaRPr lang="en-US" sz="3600" dirty="0"/>
          </a:p>
        </p:txBody>
      </p:sp>
      <p:sp>
        <p:nvSpPr>
          <p:cNvPr id="6" name="Text 2"/>
          <p:cNvSpPr txBox="1"/>
          <p:nvPr/>
        </p:nvSpPr>
        <p:spPr>
          <a:xfrm>
            <a:off x="8138160" y="2176272"/>
            <a:ext cx="3566160" cy="640080"/>
          </a:xfrm>
          <a:prstGeom prst="rect">
            <a:avLst/>
          </a:prstGeom>
          <a:noFill/>
          <a:ln/>
        </p:spPr>
        <p:txBody>
          <a:bodyPr wrap="square" lIns="0" tIns="0" rIns="0" bIns="0" rtlCol="0" anchor="t"/>
          <a:lstStyle/>
          <a:p>
            <a:pPr indent="0" marL="0">
              <a:buNone/>
            </a:pPr>
            <a:r>
              <a:rPr lang="en-US" sz="1400" dirty="0">
                <a:solidFill>
                  <a:schemeClr val="accent6"/>
                </a:solidFill>
              </a:rPr>
              <a:t>Games where Momentum Target beats Historical Features</a:t>
            </a:r>
            <a:endParaRPr lang="en-US" sz="1400" dirty="0"/>
          </a:p>
        </p:txBody>
      </p:sp>
      <p:sp>
        <p:nvSpPr>
          <p:cNvPr id="7" name="Text 3"/>
          <p:cNvSpPr txBox="1"/>
          <p:nvPr/>
        </p:nvSpPr>
        <p:spPr>
          <a:xfrm>
            <a:off x="8138160" y="2971800"/>
            <a:ext cx="3566160" cy="685800"/>
          </a:xfrm>
          <a:prstGeom prst="rect">
            <a:avLst/>
          </a:prstGeom>
          <a:noFill/>
          <a:ln/>
        </p:spPr>
        <p:txBody>
          <a:bodyPr wrap="square" lIns="0" tIns="0" rIns="0" bIns="0" rtlCol="0" anchor="t"/>
          <a:lstStyle/>
          <a:p>
            <a:pPr indent="0" marL="0">
              <a:buNone/>
            </a:pPr>
            <a:r>
              <a:rPr lang="en-US" sz="3600" b="1" dirty="0">
                <a:solidFill>
                  <a:schemeClr val="tx1"/>
                </a:solidFill>
              </a:rPr>
              <a:t>0.02 to 0.34</a:t>
            </a:r>
            <a:endParaRPr lang="en-US" sz="3600" dirty="0"/>
          </a:p>
        </p:txBody>
      </p:sp>
      <p:sp>
        <p:nvSpPr>
          <p:cNvPr id="8" name="Text 4"/>
          <p:cNvSpPr txBox="1"/>
          <p:nvPr/>
        </p:nvSpPr>
        <p:spPr>
          <a:xfrm>
            <a:off x="8138160" y="3685032"/>
            <a:ext cx="3566160" cy="640080"/>
          </a:xfrm>
          <a:prstGeom prst="rect">
            <a:avLst/>
          </a:prstGeom>
          <a:noFill/>
          <a:ln/>
        </p:spPr>
        <p:txBody>
          <a:bodyPr wrap="square" lIns="0" tIns="0" rIns="0" bIns="0" rtlCol="0" anchor="t"/>
          <a:lstStyle/>
          <a:p>
            <a:pPr indent="0" marL="0">
              <a:buNone/>
            </a:pPr>
            <a:r>
              <a:rPr lang="en-US" sz="1400" dirty="0">
                <a:solidFill>
                  <a:schemeClr val="accent6"/>
                </a:solidFill>
              </a:rPr>
              <a:t>95% bootstrap interval for the MAE drop on Rio 2016</a:t>
            </a:r>
            <a:endParaRPr lang="en-US" sz="1400" dirty="0"/>
          </a:p>
        </p:txBody>
      </p:sp>
      <p:sp>
        <p:nvSpPr>
          <p:cNvPr id="9" name="Text 5"/>
          <p:cNvSpPr txBox="1"/>
          <p:nvPr/>
        </p:nvSpPr>
        <p:spPr>
          <a:xfrm>
            <a:off x="8138160" y="4480560"/>
            <a:ext cx="3566160" cy="685800"/>
          </a:xfrm>
          <a:prstGeom prst="rect">
            <a:avLst/>
          </a:prstGeom>
          <a:noFill/>
          <a:ln/>
        </p:spPr>
        <p:txBody>
          <a:bodyPr wrap="square" lIns="0" tIns="0" rIns="0" bIns="0" rtlCol="0" anchor="t"/>
          <a:lstStyle/>
          <a:p>
            <a:pPr indent="0" marL="0">
              <a:buNone/>
            </a:pPr>
            <a:r>
              <a:rPr lang="en-US" sz="3600" b="1" dirty="0">
                <a:solidFill>
                  <a:schemeClr val="tx1"/>
                </a:solidFill>
              </a:rPr>
              <a:t>1.374</a:t>
            </a:r>
            <a:endParaRPr lang="en-US" sz="3600" dirty="0"/>
          </a:p>
        </p:txBody>
      </p:sp>
      <p:sp>
        <p:nvSpPr>
          <p:cNvPr id="10" name="Text 6"/>
          <p:cNvSpPr txBox="1"/>
          <p:nvPr/>
        </p:nvSpPr>
        <p:spPr>
          <a:xfrm>
            <a:off x="8138160" y="5193792"/>
            <a:ext cx="3566160" cy="640080"/>
          </a:xfrm>
          <a:prstGeom prst="rect">
            <a:avLst/>
          </a:prstGeom>
          <a:noFill/>
          <a:ln/>
        </p:spPr>
        <p:txBody>
          <a:bodyPr wrap="square" lIns="0" tIns="0" rIns="0" bIns="0" rtlCol="0" anchor="t"/>
          <a:lstStyle/>
          <a:p>
            <a:pPr indent="0" marL="0">
              <a:buNone/>
            </a:pPr>
            <a:r>
              <a:rPr lang="en-US" sz="1400" dirty="0">
                <a:solidFill>
                  <a:schemeClr val="accent6"/>
                </a:solidFill>
              </a:rPr>
              <a:t>average backtest MAE, vs 1.599 for Historical</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itle"/>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chemeClr val="tx1"/>
                </a:solidFill>
              </a:rPr>
              <a:t>The paper’s models, re-run: momentum helps four of five</a:t>
            </a:r>
            <a:endParaRPr lang="en-US" sz="3400" dirty="0"/>
          </a:p>
        </p:txBody>
      </p:sp>
      <p:graphicFrame>
        <p:nvGraphicFramePr>
          <p:cNvPr id="4" name="Model family chart" descr=""/>
          <p:cNvGraphicFramePr/>
          <p:nvPr/>
        </p:nvGraphicFramePr>
        <p:xfrm>
          <a:off x="548640" y="1371600"/>
          <a:ext cx="6400800" cy="466344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Classifier table"/>
          <p:cNvGraphicFramePr>
            <a:graphicFrameLocks noGrp="1"/>
          </p:cNvGraphicFramePr>
          <p:nvPr>
            <p:extLst>
              <p:ext uri="{D42A27DB-BD31-4B8C-83A1-F6EECF244321}">
                <p14:modId xmlns:p14="http://schemas.microsoft.com/office/powerpoint/2010/main" val="1579011935"/>
              </p:ext>
            </p:extLst>
          </p:nvPr>
        </p:nvGraphicFramePr>
        <p:xfrm>
          <a:off x="7269480" y="1463040"/>
          <a:ext cx="4389120" cy="914400"/>
        </p:xfrm>
        <a:graphic>
          <a:graphicData uri="http://schemas.openxmlformats.org/drawingml/2006/table">
            <a:tbl>
              <a:tblPr/>
              <a:tblGrid>
                <a:gridCol w="2377440"/>
                <a:gridCol w="1005840"/>
                <a:gridCol w="1005840"/>
              </a:tblGrid>
              <a:tr h="365760">
                <a:tc>
                  <a:txBody>
                    <a:bodyPr/>
                    <a:lstStyle/>
                    <a:p>
                      <a:pPr indent="0" marL="0">
                        <a:buNone/>
                      </a:pPr>
                      <a:r>
                        <a:rPr lang="en-US" sz="1200" b="1" dirty="0">
                          <a:solidFill>
                            <a:schemeClr val="bg1"/>
                          </a:solidFill>
                        </a:rPr>
                        <a:t>Classifier</a:t>
                      </a:r>
                      <a:endParaRPr lang="en-US" sz="1200" dirty="0"/>
                    </a:p>
                  </a:txBody>
                  <a:tcPr marL="73152" marR="73152"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13223A"/>
                    </a:solidFill>
                  </a:tcPr>
                </a:tc>
                <a:tc>
                  <a:txBody>
                    <a:bodyPr/>
                    <a:lstStyle/>
                    <a:p>
                      <a:pPr indent="0" marL="0">
                        <a:buNone/>
                      </a:pPr>
                      <a:r>
                        <a:rPr lang="en-US" sz="1200" b="1" dirty="0">
                          <a:solidFill>
                            <a:schemeClr val="bg1"/>
                          </a:solidFill>
                        </a:rPr>
                        <a:t>Acc. 2012</a:t>
                      </a:r>
                      <a:endParaRPr lang="en-US" sz="1200" dirty="0"/>
                    </a:p>
                  </a:txBody>
                  <a:tcPr marL="73152" marR="73152"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13223A"/>
                    </a:solidFill>
                  </a:tcPr>
                </a:tc>
                <a:tc>
                  <a:txBody>
                    <a:bodyPr/>
                    <a:lstStyle/>
                    <a:p>
                      <a:pPr indent="0" marL="0">
                        <a:buNone/>
                      </a:pPr>
                      <a:r>
                        <a:rPr lang="en-US" sz="1200" b="1" dirty="0">
                          <a:solidFill>
                            <a:schemeClr val="bg1"/>
                          </a:solidFill>
                        </a:rPr>
                        <a:t>Acc. 2016</a:t>
                      </a:r>
                      <a:endParaRPr lang="en-US" sz="1200" dirty="0"/>
                    </a:p>
                  </a:txBody>
                  <a:tcPr marL="73152" marR="73152"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13223A"/>
                    </a:solidFill>
                  </a:tcPr>
                </a:tc>
              </a:tr>
              <a:tr h="365760">
                <a:tc>
                  <a:txBody>
                    <a:bodyPr/>
                    <a:lstStyle/>
                    <a:p>
                      <a:pPr indent="0" marL="0">
                        <a:buNone/>
                      </a:pPr>
                      <a:r>
                        <a:rPr lang="en-US" sz="1200" dirty="0">
                          <a:solidFill>
                            <a:schemeClr val="tx1"/>
                          </a:solidFill>
                        </a:rPr>
                        <a:t>Logistic Regression</a:t>
                      </a:r>
                      <a:endParaRPr lang="en-US" sz="1200" dirty="0"/>
                    </a:p>
                  </a:txBody>
                  <a:tcPr marL="73152" marR="73152"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87.8%</a:t>
                      </a:r>
                      <a:endParaRPr lang="en-US" sz="1200" dirty="0"/>
                    </a:p>
                  </a:txBody>
                  <a:tcPr marL="73152" marR="73152"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90.3%</a:t>
                      </a:r>
                      <a:endParaRPr lang="en-US" sz="1200" dirty="0"/>
                    </a:p>
                  </a:txBody>
                  <a:tcPr marL="73152" marR="73152"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FFFFF"/>
                    </a:solidFill>
                  </a:tcPr>
                </a:tc>
              </a:tr>
              <a:tr h="365760">
                <a:tc>
                  <a:txBody>
                    <a:bodyPr/>
                    <a:lstStyle/>
                    <a:p>
                      <a:pPr indent="0" marL="0">
                        <a:buNone/>
                      </a:pPr>
                      <a:r>
                        <a:rPr lang="en-US" sz="1200" dirty="0">
                          <a:solidFill>
                            <a:schemeClr val="tx1"/>
                          </a:solidFill>
                        </a:rPr>
                        <a:t>SVM (RBF kernel)</a:t>
                      </a:r>
                      <a:endParaRPr lang="en-US" sz="1200" dirty="0"/>
                    </a:p>
                  </a:txBody>
                  <a:tcPr marL="73152" marR="73152"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87.3%</a:t>
                      </a:r>
                      <a:endParaRPr lang="en-US" sz="1200" dirty="0"/>
                    </a:p>
                  </a:txBody>
                  <a:tcPr marL="73152" marR="73152"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91.3%</a:t>
                      </a:r>
                      <a:endParaRPr lang="en-US" sz="1200" dirty="0"/>
                    </a:p>
                  </a:txBody>
                  <a:tcPr marL="73152" marR="73152"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FFFFF"/>
                    </a:solidFill>
                  </a:tcPr>
                </a:tc>
              </a:tr>
              <a:tr h="365760">
                <a:tc>
                  <a:txBody>
                    <a:bodyPr/>
                    <a:lstStyle/>
                    <a:p>
                      <a:pPr indent="0" marL="0">
                        <a:buNone/>
                      </a:pPr>
                      <a:r>
                        <a:rPr lang="en-US" sz="1200" dirty="0">
                          <a:solidFill>
                            <a:schemeClr val="tx1"/>
                          </a:solidFill>
                        </a:rPr>
                        <a:t>Gaussian Naive Bayes</a:t>
                      </a:r>
                      <a:endParaRPr lang="en-US" sz="1200" dirty="0"/>
                    </a:p>
                  </a:txBody>
                  <a:tcPr marL="73152" marR="73152"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86.8%</a:t>
                      </a:r>
                      <a:endParaRPr lang="en-US" sz="1200" dirty="0"/>
                    </a:p>
                  </a:txBody>
                  <a:tcPr marL="73152" marR="73152"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90.3%</a:t>
                      </a:r>
                      <a:endParaRPr lang="en-US" sz="1200" dirty="0"/>
                    </a:p>
                  </a:txBody>
                  <a:tcPr marL="73152" marR="73152"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FFFFF"/>
                    </a:solidFill>
                  </a:tcPr>
                </a:tc>
              </a:tr>
              <a:tr h="365760">
                <a:tc>
                  <a:txBody>
                    <a:bodyPr/>
                    <a:lstStyle/>
                    <a:p>
                      <a:pPr indent="0" marL="0">
                        <a:buNone/>
                      </a:pPr>
                      <a:r>
                        <a:rPr lang="en-US" sz="1200" dirty="0">
                          <a:solidFill>
                            <a:schemeClr val="tx1"/>
                          </a:solidFill>
                        </a:rPr>
                        <a:t>Multilayer Perceptron</a:t>
                      </a:r>
                      <a:endParaRPr lang="en-US" sz="1200" dirty="0"/>
                    </a:p>
                  </a:txBody>
                  <a:tcPr marL="73152" marR="73152"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86.3%</a:t>
                      </a:r>
                      <a:endParaRPr lang="en-US" sz="1200" dirty="0"/>
                    </a:p>
                  </a:txBody>
                  <a:tcPr marL="73152" marR="73152"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89.3%</a:t>
                      </a:r>
                      <a:endParaRPr lang="en-US" sz="1200" dirty="0"/>
                    </a:p>
                  </a:txBody>
                  <a:tcPr marL="73152" marR="73152"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FFFFF"/>
                    </a:solidFill>
                  </a:tcPr>
                </a:tc>
              </a:tr>
              <a:tr h="365760">
                <a:tc>
                  <a:txBody>
                    <a:bodyPr/>
                    <a:lstStyle/>
                    <a:p>
                      <a:pPr indent="0" marL="0">
                        <a:buNone/>
                      </a:pPr>
                      <a:r>
                        <a:rPr lang="en-US" sz="1200" dirty="0">
                          <a:solidFill>
                            <a:schemeClr val="tx1"/>
                          </a:solidFill>
                        </a:rPr>
                        <a:t>Random Forest</a:t>
                      </a:r>
                      <a:endParaRPr lang="en-US" sz="1200" dirty="0"/>
                    </a:p>
                  </a:txBody>
                  <a:tcPr marL="73152" marR="73152"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89.2%</a:t>
                      </a:r>
                      <a:endParaRPr lang="en-US" sz="1200" dirty="0"/>
                    </a:p>
                  </a:txBody>
                  <a:tcPr marL="73152" marR="73152"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91.3%</a:t>
                      </a:r>
                      <a:endParaRPr lang="en-US" sz="1200" dirty="0"/>
                    </a:p>
                  </a:txBody>
                  <a:tcPr marL="73152" marR="73152"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FFFFF"/>
                    </a:solidFill>
                  </a:tcPr>
                </a:tc>
              </a:tr>
              <a:tr h="365760">
                <a:tc>
                  <a:txBody>
                    <a:bodyPr/>
                    <a:lstStyle/>
                    <a:p>
                      <a:pPr indent="0" marL="0">
                        <a:buNone/>
                      </a:pPr>
                      <a:r>
                        <a:rPr lang="en-US" sz="1200" dirty="0">
                          <a:solidFill>
                            <a:schemeClr val="tx1"/>
                          </a:solidFill>
                        </a:rPr>
                        <a:t>Rule: medalled last time</a:t>
                      </a:r>
                      <a:endParaRPr lang="en-US" sz="1200" dirty="0"/>
                    </a:p>
                  </a:txBody>
                  <a:tcPr marL="73152" marR="73152"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87.3%</a:t>
                      </a:r>
                      <a:endParaRPr lang="en-US" sz="1200" dirty="0"/>
                    </a:p>
                  </a:txBody>
                  <a:tcPr marL="73152" marR="73152"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FFFFF"/>
                    </a:solidFill>
                  </a:tcPr>
                </a:tc>
                <a:tc>
                  <a:txBody>
                    <a:bodyPr/>
                    <a:lstStyle/>
                    <a:p>
                      <a:pPr indent="0" marL="0">
                        <a:buNone/>
                      </a:pPr>
                      <a:r>
                        <a:rPr lang="en-US" sz="1200" dirty="0">
                          <a:solidFill>
                            <a:schemeClr val="tx1"/>
                          </a:solidFill>
                        </a:rPr>
                        <a:t>88.8%</a:t>
                      </a:r>
                      <a:endParaRPr lang="en-US" sz="1200" dirty="0"/>
                    </a:p>
                  </a:txBody>
                  <a:tcPr marL="73152" marR="73152"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FFFFF"/>
                    </a:solidFill>
                  </a:tcPr>
                </a:tc>
              </a:tr>
            </a:tbl>
          </a:graphicData>
        </a:graphic>
      </p:graphicFrame>
      <p:sp>
        <p:nvSpPr>
          <p:cNvPr id="6" name="Text 1"/>
          <p:cNvSpPr txBox="1"/>
          <p:nvPr/>
        </p:nvSpPr>
        <p:spPr>
          <a:xfrm>
            <a:off x="7269480" y="4251960"/>
            <a:ext cx="4389120" cy="1097280"/>
          </a:xfrm>
          <a:prstGeom prst="rect">
            <a:avLst/>
          </a:prstGeom>
          <a:noFill/>
          <a:ln/>
        </p:spPr>
        <p:txBody>
          <a:bodyPr wrap="square" lIns="0" tIns="0" rIns="0" bIns="0" rtlCol="0" anchor="t"/>
          <a:lstStyle/>
          <a:p>
            <a:pPr indent="0" marL="0">
              <a:buNone/>
            </a:pPr>
            <a:r>
              <a:rPr lang="en-US" sz="1400" dirty="0">
                <a:solidFill>
                  <a:schemeClr val="accent6"/>
                </a:solidFill>
              </a:rPr>
              <a:t>Paper’s first stage: will a country win any medal? Every classifier lands within a few points of the simple rule “it medalled last time”.</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itle"/>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chemeClr val="tx1"/>
                </a:solidFill>
              </a:rPr>
              <a:t>A real forecast: Tokyo 2020, made from data up to 2016</a:t>
            </a:r>
            <a:endParaRPr lang="en-US" sz="3400" dirty="0"/>
          </a:p>
        </p:txBody>
      </p:sp>
      <p:graphicFrame>
        <p:nvGraphicFramePr>
          <p:cNvPr id="13" name="Tokyo table"/>
          <p:cNvGraphicFramePr>
            <a:graphicFrameLocks noGrp="1"/>
          </p:cNvGraphicFramePr>
          <p:nvPr>
            <p:extLst>
              <p:ext uri="{D42A27DB-BD31-4B8C-83A1-F6EECF244321}">
                <p14:modId xmlns:p14="http://schemas.microsoft.com/office/powerpoint/2010/main" val="1579011935"/>
              </p:ext>
            </p:extLst>
          </p:nvPr>
        </p:nvGraphicFramePr>
        <p:xfrm>
          <a:off x="548640" y="1463040"/>
          <a:ext cx="5486400" cy="914400"/>
        </p:xfrm>
        <a:graphic>
          <a:graphicData uri="http://schemas.openxmlformats.org/drawingml/2006/table">
            <a:tbl>
              <a:tblPr/>
              <a:tblGrid>
                <a:gridCol w="2743200"/>
                <a:gridCol w="914400"/>
                <a:gridCol w="914400"/>
                <a:gridCol w="914400"/>
              </a:tblGrid>
              <a:tr h="438912">
                <a:tc>
                  <a:txBody>
                    <a:bodyPr/>
                    <a:lstStyle/>
                    <a:p>
                      <a:pPr indent="0" marL="0">
                        <a:buNone/>
                      </a:pPr>
                      <a:r>
                        <a:rPr lang="en-US" sz="1400" b="1" dirty="0">
                          <a:solidFill>
                            <a:schemeClr val="bg1"/>
                          </a:solidFill>
                        </a:rPr>
                        <a:t>Model</a:t>
                      </a:r>
                      <a:endParaRPr lang="en-US" sz="1400" dirty="0"/>
                    </a:p>
                  </a:txBody>
                  <a:tcPr marL="91440" marR="91440"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13223A"/>
                    </a:solidFill>
                  </a:tcPr>
                </a:tc>
                <a:tc>
                  <a:txBody>
                    <a:bodyPr/>
                    <a:lstStyle/>
                    <a:p>
                      <a:pPr indent="0" marL="0">
                        <a:buNone/>
                      </a:pPr>
                      <a:r>
                        <a:rPr lang="en-US" sz="1400" b="1" dirty="0">
                          <a:solidFill>
                            <a:schemeClr val="bg1"/>
                          </a:solidFill>
                        </a:rPr>
                        <a:t>MAE</a:t>
                      </a:r>
                      <a:endParaRPr lang="en-US" sz="1400" dirty="0"/>
                    </a:p>
                  </a:txBody>
                  <a:tcPr marL="91440" marR="91440"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13223A"/>
                    </a:solidFill>
                  </a:tcPr>
                </a:tc>
                <a:tc>
                  <a:txBody>
                    <a:bodyPr/>
                    <a:lstStyle/>
                    <a:p>
                      <a:pPr indent="0" marL="0">
                        <a:buNone/>
                      </a:pPr>
                      <a:r>
                        <a:rPr lang="en-US" sz="1400" b="1" dirty="0">
                          <a:solidFill>
                            <a:schemeClr val="bg1"/>
                          </a:solidFill>
                        </a:rPr>
                        <a:t>RMSE</a:t>
                      </a:r>
                      <a:endParaRPr lang="en-US" sz="1400" dirty="0"/>
                    </a:p>
                  </a:txBody>
                  <a:tcPr marL="91440" marR="91440"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13223A"/>
                    </a:solidFill>
                  </a:tcPr>
                </a:tc>
                <a:tc>
                  <a:txBody>
                    <a:bodyPr/>
                    <a:lstStyle/>
                    <a:p>
                      <a:pPr indent="0" marL="0">
                        <a:buNone/>
                      </a:pPr>
                      <a:r>
                        <a:rPr lang="en-US" sz="1400" b="1" dirty="0">
                          <a:solidFill>
                            <a:schemeClr val="bg1"/>
                          </a:solidFill>
                        </a:rPr>
                        <a:t>R²</a:t>
                      </a:r>
                      <a:endParaRPr lang="en-US" sz="1400" dirty="0"/>
                    </a:p>
                  </a:txBody>
                  <a:tcPr marL="91440" marR="91440"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13223A"/>
                    </a:solidFill>
                  </a:tcPr>
                </a:tc>
              </a:tr>
              <a:tr h="438912">
                <a:tc>
                  <a:txBody>
                    <a:bodyPr/>
                    <a:lstStyle/>
                    <a:p>
                      <a:pPr indent="0" marL="0">
                        <a:buNone/>
                      </a:pPr>
                      <a:r>
                        <a:rPr lang="en-US" sz="1400" dirty="0">
                          <a:solidFill>
                            <a:schemeClr val="tx1"/>
                          </a:solidFill>
                        </a:rPr>
                        <a:t>Baseline</a:t>
                      </a:r>
                      <a:endParaRPr lang="en-US" sz="1400" dirty="0"/>
                    </a:p>
                  </a:txBody>
                  <a:tcPr marL="91440" marR="91440"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1.851</a:t>
                      </a:r>
                      <a:endParaRPr lang="en-US" sz="1400" dirty="0"/>
                    </a:p>
                  </a:txBody>
                  <a:tcPr marL="91440" marR="91440"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3.77</a:t>
                      </a:r>
                      <a:endParaRPr lang="en-US" sz="1400" dirty="0"/>
                    </a:p>
                  </a:txBody>
                  <a:tcPr marL="91440" marR="91440"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0.929</a:t>
                      </a:r>
                      <a:endParaRPr lang="en-US" sz="1400" dirty="0"/>
                    </a:p>
                  </a:txBody>
                  <a:tcPr marL="91440" marR="91440"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FFFFF"/>
                    </a:solidFill>
                  </a:tcPr>
                </a:tc>
              </a:tr>
              <a:tr h="438912">
                <a:tc>
                  <a:txBody>
                    <a:bodyPr/>
                    <a:lstStyle/>
                    <a:p>
                      <a:pPr indent="0" marL="0">
                        <a:buNone/>
                      </a:pPr>
                      <a:r>
                        <a:rPr lang="en-US" sz="1400" dirty="0">
                          <a:solidFill>
                            <a:schemeClr val="tx1"/>
                          </a:solidFill>
                        </a:rPr>
                        <a:t>Historical Features</a:t>
                      </a:r>
                      <a:endParaRPr lang="en-US" sz="1400" dirty="0"/>
                    </a:p>
                  </a:txBody>
                  <a:tcPr marL="91440" marR="91440"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1.565</a:t>
                      </a:r>
                      <a:endParaRPr lang="en-US" sz="1400" dirty="0"/>
                    </a:p>
                  </a:txBody>
                  <a:tcPr marL="91440" marR="91440"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3.38</a:t>
                      </a:r>
                      <a:endParaRPr lang="en-US" sz="1400" dirty="0"/>
                    </a:p>
                  </a:txBody>
                  <a:tcPr marL="91440" marR="91440"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0.943</a:t>
                      </a:r>
                      <a:endParaRPr lang="en-US" sz="1400" dirty="0"/>
                    </a:p>
                  </a:txBody>
                  <a:tcPr marL="91440" marR="91440"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FFFFF"/>
                    </a:solidFill>
                  </a:tcPr>
                </a:tc>
              </a:tr>
              <a:tr h="438912">
                <a:tc>
                  <a:txBody>
                    <a:bodyPr/>
                    <a:lstStyle/>
                    <a:p>
                      <a:pPr indent="0" marL="0">
                        <a:buNone/>
                      </a:pPr>
                      <a:r>
                        <a:rPr lang="en-US" sz="1400" dirty="0">
                          <a:solidFill>
                            <a:schemeClr val="tx1"/>
                          </a:solidFill>
                        </a:rPr>
                        <a:t>Historical + Economic</a:t>
                      </a:r>
                      <a:endParaRPr lang="en-US" sz="1400" dirty="0"/>
                    </a:p>
                  </a:txBody>
                  <a:tcPr marL="91440" marR="91440"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1.538</a:t>
                      </a:r>
                      <a:endParaRPr lang="en-US" sz="1400" dirty="0"/>
                    </a:p>
                  </a:txBody>
                  <a:tcPr marL="91440" marR="91440"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3.10</a:t>
                      </a:r>
                      <a:endParaRPr lang="en-US" sz="1400" dirty="0"/>
                    </a:p>
                  </a:txBody>
                  <a:tcPr marL="91440" marR="91440"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0.952</a:t>
                      </a:r>
                      <a:endParaRPr lang="en-US" sz="1400" dirty="0"/>
                    </a:p>
                  </a:txBody>
                  <a:tcPr marL="91440" marR="91440"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FFFFF"/>
                    </a:solidFill>
                  </a:tcPr>
                </a:tc>
              </a:tr>
              <a:tr h="438912">
                <a:tc>
                  <a:txBody>
                    <a:bodyPr/>
                    <a:lstStyle/>
                    <a:p>
                      <a:pPr indent="0" marL="0">
                        <a:buNone/>
                      </a:pPr>
                      <a:r>
                        <a:rPr lang="en-US" sz="1400" b="1" dirty="0">
                          <a:solidFill>
                            <a:schemeClr val="tx1"/>
                          </a:solidFill>
                        </a:rPr>
                        <a:t>Paper Two-Stage</a:t>
                      </a:r>
                      <a:endParaRPr lang="en-US" sz="1400" dirty="0"/>
                    </a:p>
                  </a:txBody>
                  <a:tcPr marL="91440" marR="91440"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BF3DF"/>
                    </a:solidFill>
                  </a:tcPr>
                </a:tc>
                <a:tc>
                  <a:txBody>
                    <a:bodyPr/>
                    <a:lstStyle/>
                    <a:p>
                      <a:pPr indent="0" marL="0">
                        <a:buNone/>
                      </a:pPr>
                      <a:r>
                        <a:rPr lang="en-US" sz="1400" b="1" dirty="0">
                          <a:solidFill>
                            <a:schemeClr val="tx1"/>
                          </a:solidFill>
                        </a:rPr>
                        <a:t>1.506</a:t>
                      </a:r>
                      <a:endParaRPr lang="en-US" sz="1400" dirty="0"/>
                    </a:p>
                  </a:txBody>
                  <a:tcPr marL="91440" marR="91440"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BF3DF"/>
                    </a:solidFill>
                  </a:tcPr>
                </a:tc>
                <a:tc>
                  <a:txBody>
                    <a:bodyPr/>
                    <a:lstStyle/>
                    <a:p>
                      <a:pPr indent="0" marL="0">
                        <a:buNone/>
                      </a:pPr>
                      <a:r>
                        <a:rPr lang="en-US" sz="1400" b="1" dirty="0">
                          <a:solidFill>
                            <a:schemeClr val="tx1"/>
                          </a:solidFill>
                        </a:rPr>
                        <a:t>3.12</a:t>
                      </a:r>
                      <a:endParaRPr lang="en-US" sz="1400" dirty="0"/>
                    </a:p>
                  </a:txBody>
                  <a:tcPr marL="91440" marR="91440"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BF3DF"/>
                    </a:solidFill>
                  </a:tcPr>
                </a:tc>
                <a:tc>
                  <a:txBody>
                    <a:bodyPr/>
                    <a:lstStyle/>
                    <a:p>
                      <a:pPr indent="0" marL="0">
                        <a:buNone/>
                      </a:pPr>
                      <a:r>
                        <a:rPr lang="en-US" sz="1400" b="1" dirty="0">
                          <a:solidFill>
                            <a:schemeClr val="tx1"/>
                          </a:solidFill>
                        </a:rPr>
                        <a:t>0.952</a:t>
                      </a:r>
                      <a:endParaRPr lang="en-US" sz="1400" dirty="0"/>
                    </a:p>
                  </a:txBody>
                  <a:tcPr marL="91440" marR="91440"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BF3DF"/>
                    </a:solidFill>
                  </a:tcPr>
                </a:tc>
              </a:tr>
              <a:tr h="438912">
                <a:tc>
                  <a:txBody>
                    <a:bodyPr/>
                    <a:lstStyle/>
                    <a:p>
                      <a:pPr indent="0" marL="0">
                        <a:buNone/>
                      </a:pPr>
                      <a:r>
                        <a:rPr lang="en-US" sz="1400" dirty="0">
                          <a:solidFill>
                            <a:schemeClr val="tx1"/>
                          </a:solidFill>
                        </a:rPr>
                        <a:t>Momentum Target</a:t>
                      </a:r>
                      <a:endParaRPr lang="en-US" sz="1400" dirty="0"/>
                    </a:p>
                  </a:txBody>
                  <a:tcPr marL="91440" marR="91440"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1.557</a:t>
                      </a:r>
                      <a:endParaRPr lang="en-US" sz="1400" dirty="0"/>
                    </a:p>
                  </a:txBody>
                  <a:tcPr marL="91440" marR="91440"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3.72</a:t>
                      </a:r>
                      <a:endParaRPr lang="en-US" sz="1400" dirty="0"/>
                    </a:p>
                  </a:txBody>
                  <a:tcPr marL="91440" marR="91440"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0.931</a:t>
                      </a:r>
                      <a:endParaRPr lang="en-US" sz="1400" dirty="0"/>
                    </a:p>
                  </a:txBody>
                  <a:tcPr marL="91440" marR="91440"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FFFFF"/>
                    </a:solidFill>
                  </a:tcPr>
                </a:tc>
              </a:tr>
              <a:tr h="438912">
                <a:tc>
                  <a:txBody>
                    <a:bodyPr/>
                    <a:lstStyle/>
                    <a:p>
                      <a:pPr indent="0" marL="0">
                        <a:buNone/>
                      </a:pPr>
                      <a:r>
                        <a:rPr lang="en-US" sz="1400" dirty="0">
                          <a:solidFill>
                            <a:schemeClr val="tx1"/>
                          </a:solidFill>
                        </a:rPr>
                        <a:t>Momentum Target + Economic</a:t>
                      </a:r>
                      <a:endParaRPr lang="en-US" sz="1400" dirty="0"/>
                    </a:p>
                  </a:txBody>
                  <a:tcPr marL="91440" marR="91440"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1.596</a:t>
                      </a:r>
                      <a:endParaRPr lang="en-US" sz="1400" dirty="0"/>
                    </a:p>
                  </a:txBody>
                  <a:tcPr marL="91440" marR="91440"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3.60</a:t>
                      </a:r>
                      <a:endParaRPr lang="en-US" sz="1400" dirty="0"/>
                    </a:p>
                  </a:txBody>
                  <a:tcPr marL="91440" marR="91440"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FFFFF"/>
                    </a:solidFill>
                  </a:tcPr>
                </a:tc>
                <a:tc>
                  <a:txBody>
                    <a:bodyPr/>
                    <a:lstStyle/>
                    <a:p>
                      <a:pPr indent="0" marL="0">
                        <a:buNone/>
                      </a:pPr>
                      <a:r>
                        <a:rPr lang="en-US" sz="1400" dirty="0">
                          <a:solidFill>
                            <a:schemeClr val="tx1"/>
                          </a:solidFill>
                        </a:rPr>
                        <a:t>0.936</a:t>
                      </a:r>
                      <a:endParaRPr lang="en-US" sz="1400" dirty="0"/>
                    </a:p>
                  </a:txBody>
                  <a:tcPr marL="91440" marR="91440" marT="0" marB="0" anchor="ctr">
                    <a:lnL w="6350" cap="flat" cmpd="sng" algn="ctr">
                      <a:solidFill>
                        <a:srgbClr val="D3DAE3"/>
                      </a:solidFill>
                      <a:prstDash val="solid"/>
                      <a:round/>
                      <a:headEnd type="none" w="med" len="med"/>
                      <a:tailEnd type="none" w="med" len="med"/>
                    </a:lnL>
                    <a:lnR w="6350" cap="flat" cmpd="sng" algn="ctr">
                      <a:solidFill>
                        <a:srgbClr val="D3DAE3"/>
                      </a:solidFill>
                      <a:prstDash val="solid"/>
                      <a:round/>
                      <a:headEnd type="none" w="med" len="med"/>
                      <a:tailEnd type="none" w="med" len="med"/>
                    </a:lnR>
                    <a:lnT w="6350" cap="flat" cmpd="sng" algn="ctr">
                      <a:solidFill>
                        <a:srgbClr val="D3DAE3"/>
                      </a:solidFill>
                      <a:prstDash val="solid"/>
                      <a:round/>
                      <a:headEnd type="none" w="med" len="med"/>
                      <a:tailEnd type="none" w="med" len="med"/>
                    </a:lnT>
                    <a:lnB w="6350" cap="flat" cmpd="sng" algn="ctr">
                      <a:solidFill>
                        <a:srgbClr val="D3DAE3"/>
                      </a:solidFill>
                      <a:prstDash val="solid"/>
                      <a:round/>
                      <a:headEnd type="none" w="med" len="med"/>
                      <a:tailEnd type="none" w="med" len="med"/>
                    </a:lnB>
                    <a:solidFill>
                      <a:srgbClr val="FFFFFF"/>
                    </a:solidFill>
                  </a:tcPr>
                </a:tc>
              </a:tr>
            </a:tbl>
          </a:graphicData>
        </a:graphic>
      </p:graphicFrame>
      <p:sp>
        <p:nvSpPr>
          <p:cNvPr id="5" name="Text 1"/>
          <p:cNvSpPr txBox="1"/>
          <p:nvPr/>
        </p:nvSpPr>
        <p:spPr>
          <a:xfrm>
            <a:off x="548640" y="4663440"/>
            <a:ext cx="5486400" cy="1280160"/>
          </a:xfrm>
          <a:prstGeom prst="rect">
            <a:avLst/>
          </a:prstGeom>
          <a:noFill/>
          <a:ln/>
        </p:spPr>
        <p:txBody>
          <a:bodyPr wrap="square" lIns="0" tIns="0" rIns="0" bIns="0" rtlCol="0" anchor="t"/>
          <a:lstStyle/>
          <a:p>
            <a:pPr indent="0" marL="0">
              <a:buNone/>
            </a:pPr>
            <a:r>
              <a:rPr lang="en-US" sz="1500" dirty="0">
                <a:solidFill>
                  <a:schemeClr val="accent6"/>
                </a:solidFill>
              </a:rPr>
              <a:t>On the real future, World Bank data helps: wealth and population carry signal that last Games’ medals miss when a cycle is disrupted. Our momentum edge from 1996–2016 did not carry over.</a:t>
            </a:r>
            <a:endParaRPr lang="en-US" sz="1500" dirty="0"/>
          </a:p>
        </p:txBody>
      </p:sp>
      <p:graphicFrame>
        <p:nvGraphicFramePr>
          <p:cNvPr id="6" name="Tokyo chart" descr=""/>
          <p:cNvGraphicFramePr/>
          <p:nvPr/>
        </p:nvGraphicFramePr>
        <p:xfrm>
          <a:off x="6400800" y="1371600"/>
          <a:ext cx="5303520" cy="466344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itle"/>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chemeClr val="tx1"/>
                </a:solidFill>
              </a:rPr>
              <a:t>What the model relies on</a:t>
            </a:r>
            <a:endParaRPr lang="en-US" sz="3400" dirty="0"/>
          </a:p>
        </p:txBody>
      </p:sp>
      <p:graphicFrame>
        <p:nvGraphicFramePr>
          <p:cNvPr id="4" name="Importance chart" descr=""/>
          <p:cNvGraphicFramePr/>
          <p:nvPr/>
        </p:nvGraphicFramePr>
        <p:xfrm>
          <a:off x="548640" y="1371600"/>
          <a:ext cx="5760720" cy="4663440"/>
        </p:xfrm>
        <a:graphic xmlns:a="http://schemas.openxmlformats.org/drawingml/2006/main">
          <a:graphicData uri="http://schemas.openxmlformats.org/drawingml/2006/chart">
            <c:chart xmlns:c="http://schemas.openxmlformats.org/drawingml/2006/chart" r:id="rId1"/>
          </a:graphicData>
        </a:graphic>
      </p:graphicFrame>
      <p:pic>
        <p:nvPicPr>
          <p:cNvPr id="5" name="Image 0" descr="Actual vs predicted medals for Rio 2016, Momentum Target model">    </p:cNvPr>
          <p:cNvPicPr>
            <a:picLocks noChangeAspect="1"/>
          </p:cNvPicPr>
          <p:nvPr/>
        </p:nvPicPr>
        <p:blipFill>
          <a:blip r:embed="rId2"/>
          <a:stretch>
            <a:fillRect/>
          </a:stretch>
        </p:blipFill>
        <p:spPr>
          <a:xfrm>
            <a:off x="6766560" y="1371600"/>
            <a:ext cx="4572000" cy="4178808"/>
          </a:xfrm>
          <a:prstGeom prst="rect">
            <a:avLst/>
          </a:prstGeom>
        </p:spPr>
      </p:pic>
      <p:sp>
        <p:nvSpPr>
          <p:cNvPr id="6" name="Text 1"/>
          <p:cNvSpPr txBox="1"/>
          <p:nvPr/>
        </p:nvSpPr>
        <p:spPr>
          <a:xfrm>
            <a:off x="6766560" y="5623560"/>
            <a:ext cx="4846320" cy="320040"/>
          </a:xfrm>
          <a:prstGeom prst="rect">
            <a:avLst/>
          </a:prstGeom>
          <a:noFill/>
          <a:ln/>
        </p:spPr>
        <p:txBody>
          <a:bodyPr wrap="square" lIns="0" tIns="0" rIns="0" bIns="0" rtlCol="0" anchor="t"/>
          <a:lstStyle/>
          <a:p>
            <a:pPr indent="0" marL="0">
              <a:buNone/>
            </a:pPr>
            <a:r>
              <a:rPr lang="en-US" sz="1300" dirty="0">
                <a:solidFill>
                  <a:schemeClr val="accent6"/>
                </a:solidFill>
              </a:rPr>
              <a:t>Actual vs predicted, Rio 2016 (Momentum Target)</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itle"/>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chemeClr val="tx1"/>
                </a:solidFill>
              </a:rPr>
              <a:t>What didn’t work, and what’s next</a:t>
            </a:r>
            <a:endParaRPr lang="en-US" sz="3400" dirty="0"/>
          </a:p>
        </p:txBody>
      </p:sp>
      <p:sp>
        <p:nvSpPr>
          <p:cNvPr id="4" name="Text 1"/>
          <p:cNvSpPr txBox="1"/>
          <p:nvPr/>
        </p:nvSpPr>
        <p:spPr>
          <a:xfrm>
            <a:off x="548640" y="1417320"/>
            <a:ext cx="5486400" cy="457200"/>
          </a:xfrm>
          <a:prstGeom prst="rect">
            <a:avLst/>
          </a:prstGeom>
          <a:noFill/>
          <a:ln/>
        </p:spPr>
        <p:txBody>
          <a:bodyPr wrap="square" lIns="0" tIns="0" rIns="0" bIns="0" rtlCol="0" anchor="t"/>
          <a:lstStyle/>
          <a:p>
            <a:pPr indent="0" marL="0">
              <a:buNone/>
            </a:pPr>
            <a:r>
              <a:rPr lang="en-US" sz="2200" b="1" dirty="0">
                <a:solidFill>
                  <a:schemeClr val="tx1"/>
                </a:solidFill>
              </a:rPr>
              <a:t>Limitations</a:t>
            </a:r>
            <a:endParaRPr lang="en-US" sz="2200" dirty="0"/>
          </a:p>
        </p:txBody>
      </p:sp>
      <p:sp>
        <p:nvSpPr>
          <p:cNvPr id="5" name="Medal disc"/>
          <p:cNvSpPr/>
          <p:nvPr/>
        </p:nvSpPr>
        <p:spPr>
          <a:xfrm>
            <a:off x="548640" y="2075688"/>
            <a:ext cx="219456" cy="219456"/>
          </a:xfrm>
          <a:prstGeom prst="ellipse">
            <a:avLst/>
          </a:prstGeom>
          <a:solidFill>
            <a:srgbClr val="A86A3D"/>
          </a:solidFill>
          <a:ln w="12700">
            <a:solidFill>
              <a:srgbClr val="A86A3D"/>
            </a:solidFill>
            <a:prstDash val="solid"/>
          </a:ln>
        </p:spPr>
      </p:sp>
      <p:sp>
        <p:nvSpPr>
          <p:cNvPr id="6" name="Text 3"/>
          <p:cNvSpPr txBox="1"/>
          <p:nvPr/>
        </p:nvSpPr>
        <p:spPr>
          <a:xfrm>
            <a:off x="914400" y="2011680"/>
            <a:ext cx="4937760" cy="365760"/>
          </a:xfrm>
          <a:prstGeom prst="rect">
            <a:avLst/>
          </a:prstGeom>
          <a:noFill/>
          <a:ln/>
        </p:spPr>
        <p:txBody>
          <a:bodyPr wrap="square" lIns="0" tIns="0" rIns="0" bIns="0" rtlCol="0" anchor="t"/>
          <a:lstStyle/>
          <a:p>
            <a:pPr indent="0" marL="0">
              <a:buNone/>
            </a:pPr>
            <a:r>
              <a:rPr lang="en-US" sz="1700" b="1" dirty="0">
                <a:solidFill>
                  <a:schemeClr val="tx1"/>
                </a:solidFill>
              </a:rPr>
              <a:t>Momentum score as a feature</a:t>
            </a:r>
            <a:endParaRPr lang="en-US" sz="1700" dirty="0"/>
          </a:p>
        </p:txBody>
      </p:sp>
      <p:sp>
        <p:nvSpPr>
          <p:cNvPr id="7" name="Text 4"/>
          <p:cNvSpPr txBox="1"/>
          <p:nvPr/>
        </p:nvSpPr>
        <p:spPr>
          <a:xfrm>
            <a:off x="914400" y="2395728"/>
            <a:ext cx="4937760" cy="868680"/>
          </a:xfrm>
          <a:prstGeom prst="rect">
            <a:avLst/>
          </a:prstGeom>
          <a:noFill/>
          <a:ln/>
        </p:spPr>
        <p:txBody>
          <a:bodyPr wrap="square" lIns="0" tIns="0" rIns="0" bIns="0" rtlCol="0" anchor="t"/>
          <a:lstStyle/>
          <a:p>
            <a:pPr indent="0" marL="0">
              <a:buNone/>
            </a:pPr>
            <a:r>
              <a:rPr lang="en-US" sz="1500" dirty="0">
                <a:solidFill>
                  <a:schemeClr val="accent6"/>
                </a:solidFill>
              </a:rPr>
              <a:t>No gain: MAE 1.501 vs 1.474. The forest already has its three components.</a:t>
            </a:r>
            <a:endParaRPr lang="en-US" sz="1500" dirty="0"/>
          </a:p>
        </p:txBody>
      </p:sp>
      <p:sp>
        <p:nvSpPr>
          <p:cNvPr id="8" name="Medal disc"/>
          <p:cNvSpPr/>
          <p:nvPr/>
        </p:nvSpPr>
        <p:spPr>
          <a:xfrm>
            <a:off x="548640" y="3401568"/>
            <a:ext cx="219456" cy="219456"/>
          </a:xfrm>
          <a:prstGeom prst="ellipse">
            <a:avLst/>
          </a:prstGeom>
          <a:solidFill>
            <a:srgbClr val="A86A3D"/>
          </a:solidFill>
          <a:ln w="12700">
            <a:solidFill>
              <a:srgbClr val="A86A3D"/>
            </a:solidFill>
            <a:prstDash val="solid"/>
          </a:ln>
        </p:spPr>
      </p:sp>
      <p:sp>
        <p:nvSpPr>
          <p:cNvPr id="9" name="Text 6"/>
          <p:cNvSpPr txBox="1"/>
          <p:nvPr/>
        </p:nvSpPr>
        <p:spPr>
          <a:xfrm>
            <a:off x="914400" y="3337560"/>
            <a:ext cx="4937760" cy="365760"/>
          </a:xfrm>
          <a:prstGeom prst="rect">
            <a:avLst/>
          </a:prstGeom>
          <a:noFill/>
          <a:ln/>
        </p:spPr>
        <p:txBody>
          <a:bodyPr wrap="square" lIns="0" tIns="0" rIns="0" bIns="0" rtlCol="0" anchor="t"/>
          <a:lstStyle/>
          <a:p>
            <a:pPr indent="0" marL="0">
              <a:buNone/>
            </a:pPr>
            <a:r>
              <a:rPr lang="en-US" sz="1700" b="1" dirty="0">
                <a:solidFill>
                  <a:schemeClr val="tx1"/>
                </a:solidFill>
              </a:rPr>
              <a:t>Tokyo 2020</a:t>
            </a:r>
            <a:endParaRPr lang="en-US" sz="1700" dirty="0"/>
          </a:p>
        </p:txBody>
      </p:sp>
      <p:sp>
        <p:nvSpPr>
          <p:cNvPr id="10" name="Text 7"/>
          <p:cNvSpPr txBox="1"/>
          <p:nvPr/>
        </p:nvSpPr>
        <p:spPr>
          <a:xfrm>
            <a:off x="914400" y="3721608"/>
            <a:ext cx="4937760" cy="868680"/>
          </a:xfrm>
          <a:prstGeom prst="rect">
            <a:avLst/>
          </a:prstGeom>
          <a:noFill/>
          <a:ln/>
        </p:spPr>
        <p:txBody>
          <a:bodyPr wrap="square" lIns="0" tIns="0" rIns="0" bIns="0" rtlCol="0" anchor="t"/>
          <a:lstStyle/>
          <a:p>
            <a:pPr indent="0" marL="0">
              <a:buNone/>
            </a:pPr>
            <a:r>
              <a:rPr lang="en-US" sz="1500" dirty="0">
                <a:solidFill>
                  <a:schemeClr val="accent6"/>
                </a:solidFill>
              </a:rPr>
              <a:t>The momentum model falls mid-pack; the paper’s two-stage model with World Bank data wins. Host and COVID effects are not in any feature.</a:t>
            </a:r>
            <a:endParaRPr lang="en-US" sz="1500" dirty="0"/>
          </a:p>
        </p:txBody>
      </p:sp>
      <p:sp>
        <p:nvSpPr>
          <p:cNvPr id="11" name="Medal disc"/>
          <p:cNvSpPr/>
          <p:nvPr/>
        </p:nvSpPr>
        <p:spPr>
          <a:xfrm>
            <a:off x="548640" y="4727448"/>
            <a:ext cx="219456" cy="219456"/>
          </a:xfrm>
          <a:prstGeom prst="ellipse">
            <a:avLst/>
          </a:prstGeom>
          <a:solidFill>
            <a:srgbClr val="A86A3D"/>
          </a:solidFill>
          <a:ln w="12700">
            <a:solidFill>
              <a:srgbClr val="A86A3D"/>
            </a:solidFill>
            <a:prstDash val="solid"/>
          </a:ln>
        </p:spPr>
      </p:sp>
      <p:sp>
        <p:nvSpPr>
          <p:cNvPr id="12" name="Text 9"/>
          <p:cNvSpPr txBox="1"/>
          <p:nvPr/>
        </p:nvSpPr>
        <p:spPr>
          <a:xfrm>
            <a:off x="914400" y="4663440"/>
            <a:ext cx="4937760" cy="365760"/>
          </a:xfrm>
          <a:prstGeom prst="rect">
            <a:avLst/>
          </a:prstGeom>
          <a:noFill/>
          <a:ln/>
        </p:spPr>
        <p:txBody>
          <a:bodyPr wrap="square" lIns="0" tIns="0" rIns="0" bIns="0" rtlCol="0" anchor="t"/>
          <a:lstStyle/>
          <a:p>
            <a:pPr indent="0" marL="0">
              <a:buNone/>
            </a:pPr>
            <a:r>
              <a:rPr lang="en-US" sz="1700" b="1" dirty="0">
                <a:solidFill>
                  <a:schemeClr val="tx1"/>
                </a:solidFill>
              </a:rPr>
              <a:t>World Bank gaps</a:t>
            </a:r>
            <a:endParaRPr lang="en-US" sz="1700" dirty="0"/>
          </a:p>
        </p:txBody>
      </p:sp>
      <p:sp>
        <p:nvSpPr>
          <p:cNvPr id="13" name="Text 10"/>
          <p:cNvSpPr txBox="1"/>
          <p:nvPr/>
        </p:nvSpPr>
        <p:spPr>
          <a:xfrm>
            <a:off x="914400" y="5047488"/>
            <a:ext cx="4937760" cy="868680"/>
          </a:xfrm>
          <a:prstGeom prst="rect">
            <a:avLst/>
          </a:prstGeom>
          <a:noFill/>
          <a:ln/>
        </p:spPr>
        <p:txBody>
          <a:bodyPr wrap="square" lIns="0" tIns="0" rIns="0" bIns="0" rtlCol="0" anchor="t"/>
          <a:lstStyle/>
          <a:p>
            <a:pPr indent="0" marL="0">
              <a:buNone/>
            </a:pPr>
            <a:r>
              <a:rPr lang="en-US" sz="1500" dirty="0">
                <a:solidFill>
                  <a:schemeClr val="accent6"/>
                </a:solidFill>
              </a:rPr>
              <a:t>No data for the USSR, East Germany or Taiwan, so 8% of rows lack economic features.</a:t>
            </a:r>
            <a:endParaRPr lang="en-US" sz="1500" dirty="0"/>
          </a:p>
        </p:txBody>
      </p:sp>
      <p:sp>
        <p:nvSpPr>
          <p:cNvPr id="14" name="Future work card"/>
          <p:cNvSpPr/>
          <p:nvPr/>
        </p:nvSpPr>
        <p:spPr>
          <a:xfrm>
            <a:off x="6400800" y="1417320"/>
            <a:ext cx="5257800" cy="4526280"/>
          </a:xfrm>
          <a:prstGeom prst="roundRect">
            <a:avLst>
              <a:gd name="adj" fmla="val 2424"/>
            </a:avLst>
          </a:prstGeom>
          <a:solidFill>
            <a:srgbClr val="EDF0F3"/>
          </a:solidFill>
          <a:ln w="12700">
            <a:solidFill>
              <a:srgbClr val="EDF0F3"/>
            </a:solidFill>
            <a:prstDash val="solid"/>
          </a:ln>
        </p:spPr>
      </p:sp>
      <p:sp>
        <p:nvSpPr>
          <p:cNvPr id="15" name="Text 12"/>
          <p:cNvSpPr txBox="1"/>
          <p:nvPr/>
        </p:nvSpPr>
        <p:spPr>
          <a:xfrm>
            <a:off x="6720840" y="1645920"/>
            <a:ext cx="4572000" cy="457200"/>
          </a:xfrm>
          <a:prstGeom prst="rect">
            <a:avLst/>
          </a:prstGeom>
          <a:noFill/>
          <a:ln/>
        </p:spPr>
        <p:txBody>
          <a:bodyPr wrap="square" lIns="0" tIns="0" rIns="0" bIns="0" rtlCol="0" anchor="t"/>
          <a:lstStyle/>
          <a:p>
            <a:pPr indent="0" marL="0">
              <a:buNone/>
            </a:pPr>
            <a:r>
              <a:rPr lang="en-US" sz="2200" b="1" dirty="0">
                <a:solidFill>
                  <a:schemeClr val="tx1"/>
                </a:solidFill>
              </a:rPr>
              <a:t>Future work</a:t>
            </a:r>
            <a:endParaRPr lang="en-US" sz="2200" dirty="0"/>
          </a:p>
        </p:txBody>
      </p:sp>
      <p:sp>
        <p:nvSpPr>
          <p:cNvPr id="16" name="Text 13"/>
          <p:cNvSpPr txBox="1"/>
          <p:nvPr/>
        </p:nvSpPr>
        <p:spPr>
          <a:xfrm>
            <a:off x="6720840" y="2286000"/>
            <a:ext cx="4663440" cy="3474720"/>
          </a:xfrm>
          <a:prstGeom prst="rect">
            <a:avLst/>
          </a:prstGeom>
          <a:noFill/>
          <a:ln/>
        </p:spPr>
        <p:txBody>
          <a:bodyPr wrap="square" lIns="0" tIns="0" rIns="0" bIns="0" rtlCol="0" anchor="t"/>
          <a:lstStyle/>
          <a:p>
            <a:pPr marL="342900" indent="-342900">
              <a:spcAft>
                <a:spcPts val="1400"/>
              </a:spcAft>
              <a:buSzPct val="100000"/>
              <a:buChar char="•"/>
            </a:pPr>
            <a:r>
              <a:rPr lang="en-US" sz="1700" dirty="0">
                <a:solidFill>
                  <a:schemeClr val="tx1"/>
                </a:solidFill>
              </a:rPr>
              <a:t>Add host-nation and next-host flags (known before the Games)</a:t>
            </a:r>
            <a:endParaRPr lang="en-US" sz="1700" dirty="0"/>
          </a:p>
          <a:p>
            <a:pPr marL="342900" indent="-342900">
              <a:spcAft>
                <a:spcPts val="1400"/>
              </a:spcAft>
              <a:buSzPct val="100000"/>
              <a:buChar char="•"/>
            </a:pPr>
            <a:r>
              <a:rPr lang="en-US" sz="1700" dirty="0">
                <a:solidFill>
                  <a:schemeClr val="tx1"/>
                </a:solidFill>
              </a:rPr>
              <a:t>Combine both strengths: momentum target with World Bank data in a tuned SVR or boosting model</a:t>
            </a:r>
            <a:endParaRPr lang="en-US" sz="1700" dirty="0"/>
          </a:p>
          <a:p>
            <a:pPr marL="342900" indent="-342900">
              <a:spcAft>
                <a:spcPts val="1400"/>
              </a:spcAft>
              <a:buSzPct val="100000"/>
              <a:buChar char="•"/>
            </a:pPr>
            <a:r>
              <a:rPr lang="en-US" sz="1700" dirty="0">
                <a:solidFill>
                  <a:schemeClr val="tx1"/>
                </a:solidFill>
              </a:rPr>
              <a:t>Count-aware models: Poisson and Tweedie gradient boosting</a:t>
            </a:r>
            <a:endParaRPr lang="en-US" sz="1700" dirty="0"/>
          </a:p>
          <a:p>
            <a:pPr marL="342900" indent="-342900">
              <a:spcAft>
                <a:spcPts val="1400"/>
              </a:spcAft>
              <a:buSzPct val="100000"/>
              <a:buChar char="•"/>
            </a:pPr>
            <a:r>
              <a:rPr lang="en-US" sz="1700" dirty="0">
                <a:solidFill>
                  <a:schemeClr val="tx1"/>
                </a:solidFill>
              </a:rPr>
              <a:t>Event-level models that predict medals per sport</a:t>
            </a:r>
            <a:endParaRPr lang="en-US" sz="17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itle"/>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chemeClr val="bg1"/>
                </a:solidFill>
              </a:rPr>
              <a:t>Conclusion</a:t>
            </a:r>
            <a:endParaRPr lang="en-US" sz="3400" dirty="0"/>
          </a:p>
        </p:txBody>
      </p:sp>
      <p:sp>
        <p:nvSpPr>
          <p:cNvPr id="3" name="Medal disc"/>
          <p:cNvSpPr/>
          <p:nvPr/>
        </p:nvSpPr>
        <p:spPr>
          <a:xfrm>
            <a:off x="548640" y="1673352"/>
            <a:ext cx="310896" cy="310896"/>
          </a:xfrm>
          <a:prstGeom prst="ellipse">
            <a:avLst/>
          </a:prstGeom>
          <a:solidFill>
            <a:srgbClr val="C8962E"/>
          </a:solidFill>
          <a:ln w="12700">
            <a:solidFill>
              <a:srgbClr val="C8962E"/>
            </a:solidFill>
            <a:prstDash val="solid"/>
          </a:ln>
        </p:spPr>
      </p:sp>
      <p:sp>
        <p:nvSpPr>
          <p:cNvPr id="4" name="Text 2"/>
          <p:cNvSpPr txBox="1"/>
          <p:nvPr/>
        </p:nvSpPr>
        <p:spPr>
          <a:xfrm>
            <a:off x="1097280" y="1600200"/>
            <a:ext cx="10424160" cy="1143000"/>
          </a:xfrm>
          <a:prstGeom prst="rect">
            <a:avLst/>
          </a:prstGeom>
          <a:noFill/>
          <a:ln/>
        </p:spPr>
        <p:txBody>
          <a:bodyPr wrap="square" lIns="0" tIns="0" rIns="0" bIns="0" rtlCol="0" anchor="t"/>
          <a:lstStyle/>
          <a:p>
            <a:pPr indent="0" marL="0">
              <a:buNone/>
            </a:pPr>
            <a:r>
              <a:rPr lang="en-US" sz="1900" dirty="0">
                <a:solidFill>
                  <a:schemeClr val="bg1"/>
                </a:solidFill>
              </a:rPr>
              <a:t>Predicting momentum instead of the count gives MAE 1.298 on Rio 2016: 19% better than the baseline and 12% better than the same features predicting the count.</a:t>
            </a:r>
            <a:endParaRPr lang="en-US" sz="1900" dirty="0"/>
          </a:p>
        </p:txBody>
      </p:sp>
      <p:sp>
        <p:nvSpPr>
          <p:cNvPr id="5" name="Medal disc"/>
          <p:cNvSpPr/>
          <p:nvPr/>
        </p:nvSpPr>
        <p:spPr>
          <a:xfrm>
            <a:off x="548640" y="3044952"/>
            <a:ext cx="310896" cy="310896"/>
          </a:xfrm>
          <a:prstGeom prst="ellipse">
            <a:avLst/>
          </a:prstGeom>
          <a:solidFill>
            <a:srgbClr val="8F99A9"/>
          </a:solidFill>
          <a:ln w="12700">
            <a:solidFill>
              <a:srgbClr val="8F99A9"/>
            </a:solidFill>
            <a:prstDash val="solid"/>
          </a:ln>
        </p:spPr>
      </p:sp>
      <p:sp>
        <p:nvSpPr>
          <p:cNvPr id="6" name="Text 4"/>
          <p:cNvSpPr txBox="1"/>
          <p:nvPr/>
        </p:nvSpPr>
        <p:spPr>
          <a:xfrm>
            <a:off x="1097280" y="2971800"/>
            <a:ext cx="10424160" cy="1143000"/>
          </a:xfrm>
          <a:prstGeom prst="rect">
            <a:avLst/>
          </a:prstGeom>
          <a:noFill/>
          <a:ln/>
        </p:spPr>
        <p:txBody>
          <a:bodyPr wrap="square" lIns="0" tIns="0" rIns="0" bIns="0" rtlCol="0" anchor="t"/>
          <a:lstStyle/>
          <a:p>
            <a:pPr indent="0" marL="0">
              <a:buNone/>
            </a:pPr>
            <a:r>
              <a:rPr lang="en-US" sz="1900" dirty="0">
                <a:solidFill>
                  <a:schemeClr val="bg1"/>
                </a:solidFill>
              </a:rPr>
              <a:t>The gain is statistically significant on 2016 and holds in all 6 backtest Games, ahead of the reference paper’s two-stage design.</a:t>
            </a:r>
            <a:endParaRPr lang="en-US" sz="1900" dirty="0"/>
          </a:p>
        </p:txBody>
      </p:sp>
      <p:sp>
        <p:nvSpPr>
          <p:cNvPr id="7" name="Medal disc"/>
          <p:cNvSpPr/>
          <p:nvPr/>
        </p:nvSpPr>
        <p:spPr>
          <a:xfrm>
            <a:off x="548640" y="4416552"/>
            <a:ext cx="310896" cy="310896"/>
          </a:xfrm>
          <a:prstGeom prst="ellipse">
            <a:avLst/>
          </a:prstGeom>
          <a:solidFill>
            <a:srgbClr val="A86A3D"/>
          </a:solidFill>
          <a:ln w="12700">
            <a:solidFill>
              <a:srgbClr val="A86A3D"/>
            </a:solidFill>
            <a:prstDash val="solid"/>
          </a:ln>
        </p:spPr>
      </p:sp>
      <p:sp>
        <p:nvSpPr>
          <p:cNvPr id="8" name="Text 6"/>
          <p:cNvSpPr txBox="1"/>
          <p:nvPr/>
        </p:nvSpPr>
        <p:spPr>
          <a:xfrm>
            <a:off x="1097280" y="4343400"/>
            <a:ext cx="10424160" cy="1143000"/>
          </a:xfrm>
          <a:prstGeom prst="rect">
            <a:avLst/>
          </a:prstGeom>
          <a:noFill/>
          <a:ln/>
        </p:spPr>
        <p:txBody>
          <a:bodyPr wrap="square" lIns="0" tIns="0" rIns="0" bIns="0" rtlCol="0" anchor="t"/>
          <a:lstStyle/>
          <a:p>
            <a:pPr indent="0" marL="0">
              <a:buNone/>
            </a:pPr>
            <a:r>
              <a:rPr lang="en-US" sz="1900" dirty="0">
                <a:solidFill>
                  <a:schemeClr val="bg1"/>
                </a:solidFill>
              </a:rPr>
              <a:t>Predicting momentum also helps Linear, Ridge, Lasso and Random Forest models. The momentum score alone adds nothing, and on Tokyo 2020 the paper’s World Bank models win. The contribution is the target design.</a:t>
            </a:r>
            <a:endParaRPr lang="en-US" sz="19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4CAD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itle"/>
          <p:cNvSpPr txBox="1"/>
          <p:nvPr/>
        </p:nvSpPr>
        <p:spPr>
          <a:xfrm>
            <a:off x="548640" y="365760"/>
            <a:ext cx="11064240" cy="822960"/>
          </a:xfrm>
          <a:prstGeom prst="rect">
            <a:avLst/>
          </a:prstGeom>
          <a:noFill/>
          <a:ln/>
        </p:spPr>
        <p:txBody>
          <a:bodyPr wrap="square" lIns="0" tIns="0" rIns="0" bIns="0" rtlCol="0" anchor="t"/>
          <a:lstStyle/>
          <a:p>
            <a:pPr indent="0" marL="0">
              <a:buNone/>
            </a:pPr>
            <a:r>
              <a:rPr lang="en-US" sz="3400" b="1" dirty="0">
                <a:solidFill>
                  <a:schemeClr val="tx1"/>
                </a:solidFill>
              </a:rPr>
              <a:t>Live demo and repository</a:t>
            </a:r>
            <a:endParaRPr lang="en-US" sz="3400" dirty="0"/>
          </a:p>
        </p:txBody>
      </p:sp>
      <p:sp>
        <p:nvSpPr>
          <p:cNvPr id="4" name="Reproduce card"/>
          <p:cNvSpPr/>
          <p:nvPr/>
        </p:nvSpPr>
        <p:spPr>
          <a:xfrm>
            <a:off x="548640" y="1417320"/>
            <a:ext cx="11064240" cy="1325880"/>
          </a:xfrm>
          <a:prstGeom prst="roundRect">
            <a:avLst>
              <a:gd name="adj" fmla="val 6897"/>
            </a:avLst>
          </a:prstGeom>
          <a:solidFill>
            <a:srgbClr val="13223A"/>
          </a:solidFill>
          <a:ln w="12700">
            <a:solidFill>
              <a:srgbClr val="13223A"/>
            </a:solidFill>
            <a:prstDash val="solid"/>
          </a:ln>
        </p:spPr>
      </p:sp>
      <p:sp>
        <p:nvSpPr>
          <p:cNvPr id="5" name="Text 2"/>
          <p:cNvSpPr txBox="1"/>
          <p:nvPr/>
        </p:nvSpPr>
        <p:spPr>
          <a:xfrm>
            <a:off x="868680" y="1618488"/>
            <a:ext cx="2377440" cy="457200"/>
          </a:xfrm>
          <a:prstGeom prst="rect">
            <a:avLst/>
          </a:prstGeom>
          <a:noFill/>
          <a:ln/>
        </p:spPr>
        <p:txBody>
          <a:bodyPr wrap="square" lIns="0" tIns="0" rIns="0" bIns="0" rtlCol="0" anchor="t"/>
          <a:lstStyle/>
          <a:p>
            <a:pPr indent="0" marL="0">
              <a:buNone/>
            </a:pPr>
            <a:r>
              <a:rPr lang="en-US" sz="2200" b="1" dirty="0">
                <a:solidFill>
                  <a:srgbClr val="E7D3A6"/>
                </a:solidFill>
              </a:rPr>
              <a:t>Reproduce</a:t>
            </a:r>
            <a:endParaRPr lang="en-US" sz="2200" dirty="0"/>
          </a:p>
        </p:txBody>
      </p:sp>
      <p:sp>
        <p:nvSpPr>
          <p:cNvPr id="6" name="Text 3"/>
          <p:cNvSpPr txBox="1"/>
          <p:nvPr/>
        </p:nvSpPr>
        <p:spPr>
          <a:xfrm>
            <a:off x="3291840" y="1618488"/>
            <a:ext cx="8046720" cy="1005840"/>
          </a:xfrm>
          <a:prstGeom prst="rect">
            <a:avLst/>
          </a:prstGeom>
          <a:noFill/>
          <a:ln/>
        </p:spPr>
        <p:txBody>
          <a:bodyPr wrap="square" lIns="0" tIns="0" rIns="0" bIns="0" rtlCol="0" anchor="t"/>
          <a:lstStyle/>
          <a:p>
            <a:pPr indent="0" marL="0">
              <a:buNone/>
            </a:pPr>
            <a:r>
              <a:rPr lang="en-US" sz="1500" dirty="0">
                <a:solidFill>
                  <a:schemeClr val="bg1"/>
                </a:solidFill>
                <a:latin typeface="Courier New" pitchFamily="34" charset="0"/>
                <a:ea typeface="Courier New" pitchFamily="34" charset="-122"/>
                <a:cs typeface="Courier New" pitchFamily="34" charset="-120"/>
              </a:rPr>
              <a:t>pip install -r requirements.txt</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python scripts/run_pipeline.py --quick</a:t>
            </a:r>
            <a:endParaRPr lang="en-US" sz="1500" dirty="0"/>
          </a:p>
          <a:p>
            <a:pPr indent="0" marL="0">
              <a:buNone/>
            </a:pPr>
            <a:r>
              <a:rPr lang="en-US" sz="1500" dirty="0">
                <a:solidFill>
                  <a:schemeClr val="bg1"/>
                </a:solidFill>
                <a:latin typeface="Courier New" pitchFamily="34" charset="0"/>
                <a:ea typeface="Courier New" pitchFamily="34" charset="-122"/>
                <a:cs typeface="Courier New" pitchFamily="34" charset="-120"/>
              </a:rPr>
              <a:t>python -m pytest -q</a:t>
            </a:r>
            <a:endParaRPr lang="en-US" sz="1500" dirty="0"/>
          </a:p>
        </p:txBody>
      </p:sp>
      <p:sp>
        <p:nvSpPr>
          <p:cNvPr id="7" name="Notebook card"/>
          <p:cNvSpPr/>
          <p:nvPr/>
        </p:nvSpPr>
        <p:spPr>
          <a:xfrm>
            <a:off x="548640" y="2953512"/>
            <a:ext cx="11064240" cy="1325880"/>
          </a:xfrm>
          <a:prstGeom prst="roundRect">
            <a:avLst>
              <a:gd name="adj" fmla="val 6897"/>
            </a:avLst>
          </a:prstGeom>
          <a:solidFill>
            <a:srgbClr val="EDF0F3"/>
          </a:solidFill>
          <a:ln w="12700">
            <a:solidFill>
              <a:srgbClr val="EDF0F3"/>
            </a:solidFill>
            <a:prstDash val="solid"/>
          </a:ln>
        </p:spPr>
      </p:sp>
      <p:sp>
        <p:nvSpPr>
          <p:cNvPr id="8" name="Text 5"/>
          <p:cNvSpPr txBox="1"/>
          <p:nvPr/>
        </p:nvSpPr>
        <p:spPr>
          <a:xfrm>
            <a:off x="868680" y="3154680"/>
            <a:ext cx="2377440" cy="457200"/>
          </a:xfrm>
          <a:prstGeom prst="rect">
            <a:avLst/>
          </a:prstGeom>
          <a:noFill/>
          <a:ln/>
        </p:spPr>
        <p:txBody>
          <a:bodyPr wrap="square" lIns="0" tIns="0" rIns="0" bIns="0" rtlCol="0" anchor="t"/>
          <a:lstStyle/>
          <a:p>
            <a:pPr indent="0" marL="0">
              <a:buNone/>
            </a:pPr>
            <a:r>
              <a:rPr lang="en-US" sz="2200" b="1" dirty="0">
                <a:solidFill>
                  <a:schemeClr val="tx1"/>
                </a:solidFill>
              </a:rPr>
              <a:t>Notebook</a:t>
            </a:r>
            <a:endParaRPr lang="en-US" sz="2200" dirty="0"/>
          </a:p>
        </p:txBody>
      </p:sp>
      <p:sp>
        <p:nvSpPr>
          <p:cNvPr id="9" name="Text 6"/>
          <p:cNvSpPr txBox="1"/>
          <p:nvPr/>
        </p:nvSpPr>
        <p:spPr>
          <a:xfrm>
            <a:off x="3291840" y="3154680"/>
            <a:ext cx="8046720" cy="1005840"/>
          </a:xfrm>
          <a:prstGeom prst="rect">
            <a:avLst/>
          </a:prstGeom>
          <a:noFill/>
          <a:ln/>
        </p:spPr>
        <p:txBody>
          <a:bodyPr wrap="square" lIns="0" tIns="0" rIns="0" bIns="0" rtlCol="0" anchor="t"/>
          <a:lstStyle/>
          <a:p>
            <a:pPr indent="0" marL="0">
              <a:buNone/>
            </a:pPr>
            <a:r>
              <a:rPr lang="en-US" sz="1500" dirty="0">
                <a:solidFill>
                  <a:schemeClr val="accent6"/>
                </a:solidFill>
              </a:rPr>
              <a:t>notebooks/Olympic_Medal_Prediction.ipynb</a:t>
            </a:r>
            <a:endParaRPr lang="en-US" sz="1500" dirty="0"/>
          </a:p>
          <a:p>
            <a:pPr indent="0" marL="0">
              <a:buNone/>
            </a:pPr>
            <a:r>
              <a:rPr lang="en-US" sz="1500" dirty="0">
                <a:solidFill>
                  <a:schemeClr val="accent6"/>
                </a:solidFill>
              </a:rPr>
              <a:t>Step-by-step: data, features, momentum, tuning, Rio test, Tokyo forecast</a:t>
            </a:r>
            <a:endParaRPr lang="en-US" sz="1500" dirty="0"/>
          </a:p>
        </p:txBody>
      </p:sp>
      <p:sp>
        <p:nvSpPr>
          <p:cNvPr id="10" name="Website card"/>
          <p:cNvSpPr/>
          <p:nvPr/>
        </p:nvSpPr>
        <p:spPr>
          <a:xfrm>
            <a:off x="548640" y="4489704"/>
            <a:ext cx="11064240" cy="1325880"/>
          </a:xfrm>
          <a:prstGeom prst="roundRect">
            <a:avLst>
              <a:gd name="adj" fmla="val 6897"/>
            </a:avLst>
          </a:prstGeom>
          <a:solidFill>
            <a:srgbClr val="EDF0F3"/>
          </a:solidFill>
          <a:ln w="12700">
            <a:solidFill>
              <a:srgbClr val="EDF0F3"/>
            </a:solidFill>
            <a:prstDash val="solid"/>
          </a:ln>
        </p:spPr>
      </p:sp>
      <p:sp>
        <p:nvSpPr>
          <p:cNvPr id="11" name="Text 8"/>
          <p:cNvSpPr txBox="1"/>
          <p:nvPr/>
        </p:nvSpPr>
        <p:spPr>
          <a:xfrm>
            <a:off x="868680" y="4690872"/>
            <a:ext cx="2377440" cy="457200"/>
          </a:xfrm>
          <a:prstGeom prst="rect">
            <a:avLst/>
          </a:prstGeom>
          <a:noFill/>
          <a:ln/>
        </p:spPr>
        <p:txBody>
          <a:bodyPr wrap="square" lIns="0" tIns="0" rIns="0" bIns="0" rtlCol="0" anchor="t"/>
          <a:lstStyle/>
          <a:p>
            <a:pPr indent="0" marL="0">
              <a:buNone/>
            </a:pPr>
            <a:r>
              <a:rPr lang="en-US" sz="2200" b="1" dirty="0">
                <a:solidFill>
                  <a:schemeClr val="tx1"/>
                </a:solidFill>
              </a:rPr>
              <a:t>Website</a:t>
            </a:r>
            <a:endParaRPr lang="en-US" sz="2200" dirty="0"/>
          </a:p>
        </p:txBody>
      </p:sp>
      <p:sp>
        <p:nvSpPr>
          <p:cNvPr id="12" name="Text 9"/>
          <p:cNvSpPr txBox="1"/>
          <p:nvPr/>
        </p:nvSpPr>
        <p:spPr>
          <a:xfrm>
            <a:off x="3291840" y="4690872"/>
            <a:ext cx="8046720" cy="1005840"/>
          </a:xfrm>
          <a:prstGeom prst="rect">
            <a:avLst/>
          </a:prstGeom>
          <a:noFill/>
          <a:ln/>
        </p:spPr>
        <p:txBody>
          <a:bodyPr wrap="square" lIns="0" tIns="0" rIns="0" bIns="0" rtlCol="0" anchor="t"/>
          <a:lstStyle/>
          <a:p>
            <a:pPr indent="0" marL="0">
              <a:buNone/>
            </a:pPr>
            <a:r>
              <a:rPr lang="en-US" sz="1500" dirty="0">
                <a:solidFill>
                  <a:schemeClr val="accent6"/>
                </a:solidFill>
              </a:rPr>
              <a:t>docs/index.html (open in any browser)</a:t>
            </a:r>
            <a:endParaRPr lang="en-US" sz="1500" dirty="0"/>
          </a:p>
          <a:p>
            <a:pPr indent="0" marL="0">
              <a:buNone/>
            </a:pPr>
            <a:r>
              <a:rPr lang="en-US" sz="1500" dirty="0">
                <a:solidFill>
                  <a:schemeClr val="accent6"/>
                </a:solidFill>
              </a:rPr>
              <a:t>Race view, model comparison, backtest and a country explorer</a:t>
            </a:r>
            <a:endParaRPr lang="en-US" sz="1500" dirty="0"/>
          </a:p>
        </p:txBody>
      </p:sp>
      <p:sp>
        <p:nvSpPr>
          <p:cNvPr id="13" name="Text 10"/>
          <p:cNvSpPr txBox="1"/>
          <p:nvPr/>
        </p:nvSpPr>
        <p:spPr>
          <a:xfrm>
            <a:off x="548640" y="5989320"/>
            <a:ext cx="11064240" cy="320040"/>
          </a:xfrm>
          <a:prstGeom prst="rect">
            <a:avLst/>
          </a:prstGeom>
          <a:noFill/>
          <a:ln/>
        </p:spPr>
        <p:txBody>
          <a:bodyPr wrap="square" lIns="0" tIns="0" rIns="0" bIns="0" rtlCol="0" anchor="t"/>
          <a:lstStyle/>
          <a:p>
            <a:pPr indent="0" marL="0">
              <a:buNone/>
            </a:pPr>
            <a:r>
              <a:rPr lang="en-US" sz="1500" b="1" dirty="0">
                <a:solidFill>
                  <a:schemeClr val="accent4"/>
                </a:solidFill>
              </a:rPr>
              <a:t>github.com/ryonahh/ML_MiniProject_53</a:t>
            </a:r>
            <a:endParaRPr lang="en-US" sz="15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872"/>
                </a:solidFill>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Medal Momentum">
  <a:themeElements>
    <a:clrScheme name="Medal Momentum">
      <a:dk1>
        <a:srgbClr val="13223A"/>
      </a:dk1>
      <a:lt1>
        <a:srgbClr val="FFFFFF"/>
      </a:lt1>
      <a:dk2>
        <a:srgbClr val="2E5A88"/>
      </a:dk2>
      <a:lt2>
        <a:srgbClr val="EDF0F3"/>
      </a:lt2>
      <a:accent1>
        <a:srgbClr val="C8962E"/>
      </a:accent1>
      <a:accent2>
        <a:srgbClr val="8F99A9"/>
      </a:accent2>
      <a:accent3>
        <a:srgbClr val="A86A3D"/>
      </a:accent3>
      <a:accent4>
        <a:srgbClr val="2E5A88"/>
      </a:accent4>
      <a:accent5>
        <a:srgbClr val="C4CAD4"/>
      </a:accent5>
      <a:accent6>
        <a:srgbClr val="4A5872"/>
      </a:accent6>
      <a:hlink>
        <a:srgbClr val="2E5A88"/>
      </a:hlink>
      <a:folHlink>
        <a:srgbClr val="4A5872"/>
      </a:folHlink>
    </a:clrScheme>
    <a:fontScheme name="Medal Momentum">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Temporal Olympic Medal Prediction with Performance Momentum</dc:title>
  <dc:subject>UE24CS352A Machine Learning mini-project, Team 53</dc:subject>
  <dc:creator>Ryona Aditree Ghosh, Rishit V N S</dc:creator>
  <cp:lastModifiedBy>Ryona Aditree Ghosh, Rishit V N S</cp:lastModifiedBy>
  <cp:revision>1</cp:revision>
  <dcterms:created xsi:type="dcterms:W3CDTF">2026-10-11T09:40:25Z</dcterms:created>
  <dcterms:modified xsi:type="dcterms:W3CDTF">2026-10-11T09:40:25Z</dcterms:modified>
</cp:coreProperties>
</file>