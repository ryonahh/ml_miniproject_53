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1e84f3f-8a82-9b81-f2a1-2c2174d53442}">
          <p14:sldIdLst>
            <p14:sldId id="256"/>
            <p14:sldId id="257"/>
          </p14:sldIdLst>
        </p14:section>
        <p14:section name="Data and method" id="{502a6920-3a41-41bf-0456-72a0ee74f284}">
          <p14:sldIdLst>
            <p14:sldId id="258"/>
            <p14:sldId id="259"/>
            <p14:sldId id="260"/>
            <p14:sldId id="261"/>
          </p14:sldIdLst>
        </p14:section>
        <p14:section name="Novelty" id="{6e3f49a0-aa14-e278-206b-0fc86e9f9a48}">
          <p14:sldIdLst>
            <p14:sldId id="262"/>
            <p14:sldId id="263"/>
          </p14:sldIdLst>
        </p14:section>
        <p14:section name="Results" id="{da1f75a2-a20e-a9b5-2219-396b9c20ec6e}">
          <p14:sldIdLst>
            <p14:sldId id="264"/>
            <p14:sldId id="265"/>
            <p14:sldId id="266"/>
            <p14:sldId id="267"/>
            <p14:sldId id="268"/>
          </p14:sldIdLst>
        </p14:section>
        <p14:section name="Conclusion" id="{6f08ff34-1dcf-e432-9126-863752ece3f2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87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5872"/>
                </a:solidFill>
                <a:latin typeface="+mn-lt"/>
              </a:rPr>
              <a:t>Mean absolute error, medals per country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A86A3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32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6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A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99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CA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CA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4CA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96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4CAD4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Baseline</c:v>
                  </c:pt>
                  <c:pt idx="1">
                    <c:v>Historical + Momentum Score</c:v>
                  </c:pt>
                  <c:pt idx="2">
                    <c:v>Historical Features</c:v>
                  </c:pt>
                  <c:pt idx="3">
                    <c:v>Historical + Economic</c:v>
                  </c:pt>
                  <c:pt idx="4">
                    <c:v>Paper Two-Stage</c:v>
                  </c:pt>
                  <c:pt idx="5">
                    <c:v>Momentum Target + Economic</c:v>
                  </c:pt>
                  <c:pt idx="6">
                    <c:v>Momentum Target</c:v>
                  </c:pt>
                  <c:pt idx="7">
                    <c:v>Momentum Target + Score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1.606</c:v>
                </c:pt>
                <c:pt idx="1">
                  <c:v>1.501</c:v>
                </c:pt>
                <c:pt idx="2">
                  <c:v>1.474</c:v>
                </c:pt>
                <c:pt idx="3">
                  <c:v>1.461</c:v>
                </c:pt>
                <c:pt idx="4">
                  <c:v>1.442</c:v>
                </c:pt>
                <c:pt idx="5">
                  <c:v>1.307</c:v>
                </c:pt>
                <c:pt idx="6">
                  <c:v>1.298</c:v>
                </c:pt>
                <c:pt idx="7">
                  <c:v>1.296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32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2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b"/>
        <c:majorGridlines>
          <c:spPr>
            <a:ln w="9525" cap="flat">
              <a:solidFill>
                <a:srgbClr val="D3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87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5872"/>
                </a:solidFill>
                <a:latin typeface="+mn-lt"/>
              </a:rPr>
              <a:t>MAE per held-out Games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86A3D"/>
            </a:solidFill>
            <a:ln w="31750" cap="flat">
              <a:solidFill>
                <a:srgbClr val="A86A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6A3D"/>
              </a:solidFill>
              <a:ln w="9525" cap="flat">
                <a:solidFill>
                  <a:srgbClr val="A86A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1996</c:v>
                  </c:pt>
                  <c:pt idx="1">
                    <c:v>2000</c:v>
                  </c:pt>
                  <c:pt idx="2">
                    <c:v>2004</c:v>
                  </c:pt>
                  <c:pt idx="3">
                    <c:v>2008</c:v>
                  </c:pt>
                  <c:pt idx="4">
                    <c:v>2012</c:v>
                  </c:pt>
                  <c:pt idx="5">
                    <c:v>2016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2.014</c:v>
                </c:pt>
                <c:pt idx="1">
                  <c:v>1.724</c:v>
                </c:pt>
                <c:pt idx="2">
                  <c:v>1.478</c:v>
                </c:pt>
                <c:pt idx="3">
                  <c:v>1.702</c:v>
                </c:pt>
                <c:pt idx="4">
                  <c:v>1.25</c:v>
                </c:pt>
                <c:pt idx="5">
                  <c:v>1.606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Historical Features</c:v>
                </c:pt>
              </c:strCache>
            </c:strRef>
          </c:tx>
          <c:spPr>
            <a:solidFill>
              <a:srgbClr val="8F99A9"/>
            </a:solidFill>
            <a:ln w="31750" cap="flat">
              <a:solidFill>
                <a:srgbClr val="8F99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F99A9"/>
              </a:solidFill>
              <a:ln w="9525" cap="flat">
                <a:solidFill>
                  <a:srgbClr val="8F99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1996</c:v>
                  </c:pt>
                  <c:pt idx="1">
                    <c:v>2000</c:v>
                  </c:pt>
                  <c:pt idx="2">
                    <c:v>2004</c:v>
                  </c:pt>
                  <c:pt idx="3">
                    <c:v>2008</c:v>
                  </c:pt>
                  <c:pt idx="4">
                    <c:v>2012</c:v>
                  </c:pt>
                  <c:pt idx="5">
                    <c:v>2016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1.92</c:v>
                </c:pt>
                <c:pt idx="1">
                  <c:v>1.694</c:v>
                </c:pt>
                <c:pt idx="2">
                  <c:v>1.442</c:v>
                </c:pt>
                <c:pt idx="3">
                  <c:v>1.667</c:v>
                </c:pt>
                <c:pt idx="4">
                  <c:v>1.395</c:v>
                </c:pt>
                <c:pt idx="5">
                  <c:v>1.474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Paper Two-Stage</c:v>
                </c:pt>
              </c:strCache>
            </c:strRef>
          </c:tx>
          <c:spPr>
            <a:solidFill>
              <a:srgbClr val="C4CAD4"/>
            </a:solidFill>
            <a:ln w="31750" cap="flat">
              <a:solidFill>
                <a:srgbClr val="C4CA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4CAD4"/>
              </a:solidFill>
              <a:ln w="9525" cap="flat">
                <a:solidFill>
                  <a:srgbClr val="C4CA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1996</c:v>
                  </c:pt>
                  <c:pt idx="1">
                    <c:v>2000</c:v>
                  </c:pt>
                  <c:pt idx="2">
                    <c:v>2004</c:v>
                  </c:pt>
                  <c:pt idx="3">
                    <c:v>2008</c:v>
                  </c:pt>
                  <c:pt idx="4">
                    <c:v>2012</c:v>
                  </c:pt>
                  <c:pt idx="5">
                    <c:v>2016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1.867</c:v>
                </c:pt>
                <c:pt idx="1">
                  <c:v>1.675</c:v>
                </c:pt>
                <c:pt idx="2">
                  <c:v>1.321</c:v>
                </c:pt>
                <c:pt idx="3">
                  <c:v>1.649</c:v>
                </c:pt>
                <c:pt idx="4">
                  <c:v>1.388</c:v>
                </c:pt>
                <c:pt idx="5">
                  <c:v>1.442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Momentum Target</c:v>
                </c:pt>
              </c:strCache>
            </c:strRef>
          </c:tx>
          <c:spPr>
            <a:solidFill>
              <a:srgbClr val="C8962E"/>
            </a:solidFill>
            <a:ln w="31750" cap="flat">
              <a:solidFill>
                <a:srgbClr val="C896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962E"/>
              </a:solidFill>
              <a:ln w="9525" cap="flat">
                <a:solidFill>
                  <a:srgbClr val="C896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1996</c:v>
                  </c:pt>
                  <c:pt idx="1">
                    <c:v>2000</c:v>
                  </c:pt>
                  <c:pt idx="2">
                    <c:v>2004</c:v>
                  </c:pt>
                  <c:pt idx="3">
                    <c:v>2008</c:v>
                  </c:pt>
                  <c:pt idx="4">
                    <c:v>2012</c:v>
                  </c:pt>
                  <c:pt idx="5">
                    <c:v>2016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1.825</c:v>
                </c:pt>
                <c:pt idx="1">
                  <c:v>1.3</c:v>
                </c:pt>
                <c:pt idx="2">
                  <c:v>1.111</c:v>
                </c:pt>
                <c:pt idx="3">
                  <c:v>1.473</c:v>
                </c:pt>
                <c:pt idx="4">
                  <c:v>1.238</c:v>
                </c:pt>
                <c:pt idx="5">
                  <c:v>1.298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1"/>
          <c:min val="1"/>
        </c:scaling>
        <c:delete val="0"/>
        <c:axPos val="l"/>
        <c:majorGridlines>
          <c:spPr>
            <a:ln w="9525" cap="flat">
              <a:solidFill>
                <a:srgbClr val="D3DA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322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87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5872"/>
                </a:solidFill>
                <a:latin typeface="+mn-lt"/>
              </a:rPr>
              <a:t>Rio 2016 MAE by model family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 the count</c:v>
                </c:pt>
              </c:strCache>
            </c:strRef>
          </c:tx>
          <c:spPr>
            <a:solidFill>
              <a:srgbClr val="C4CAD4"/>
            </a:solidFill>
            <a:effectLst/>
          </c:spPr>
          <c:invertIfNegative val="0"/>
          <c:dLbls>
            <c:numFmt formatCode="0.0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Linear Regression</c:v>
                  </c:pt>
                  <c:pt idx="1">
                    <c:v>Ridge</c:v>
                  </c:pt>
                  <c:pt idx="2">
                    <c:v>Lasso</c:v>
                  </c:pt>
                  <c:pt idx="3">
                    <c:v>Poisson Regression</c:v>
                  </c:pt>
                  <c:pt idx="4">
                    <c:v>SVR (RBF kernel)</c:v>
                  </c:pt>
                  <c:pt idx="5">
                    <c:v>Random Forest</c:v>
                  </c:pt>
                  <c:pt idx="6">
                    <c:v>Paper best: Naive Bayes + Ridge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2.22</c:v>
                </c:pt>
                <c:pt idx="1">
                  <c:v>2.2</c:v>
                </c:pt>
                <c:pt idx="2">
                  <c:v>2.21</c:v>
                </c:pt>
                <c:pt idx="3">
                  <c:v>1.66</c:v>
                </c:pt>
                <c:pt idx="4">
                  <c:v>1.32</c:v>
                </c:pt>
                <c:pt idx="5">
                  <c:v>1.48</c:v>
                </c:pt>
                <c:pt idx="6">
                  <c:v>2.12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 momentum</c:v>
                </c:pt>
              </c:strCache>
            </c:strRef>
          </c:tx>
          <c:spPr>
            <a:solidFill>
              <a:srgbClr val="C8962E"/>
            </a:solidFill>
            <a:effectLst/>
          </c:spPr>
          <c:invertIfNegative val="0"/>
          <c:dLbls>
            <c:numFmt formatCode="0.0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Linear Regression</c:v>
                  </c:pt>
                  <c:pt idx="1">
                    <c:v>Ridge</c:v>
                  </c:pt>
                  <c:pt idx="2">
                    <c:v>Lasso</c:v>
                  </c:pt>
                  <c:pt idx="3">
                    <c:v>Poisson Regression</c:v>
                  </c:pt>
                  <c:pt idx="4">
                    <c:v>SVR (RBF kernel)</c:v>
                  </c:pt>
                  <c:pt idx="5">
                    <c:v>Random Forest</c:v>
                  </c:pt>
                  <c:pt idx="6">
                    <c:v>Paper best: Naive Bayes + Ridge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1.38</c:v>
                </c:pt>
                <c:pt idx="1">
                  <c:v>1.35</c:v>
                </c:pt>
                <c:pt idx="2">
                  <c:v>1.31</c:v>
                </c:pt>
                <c:pt idx="3">
                  <c:v>0</c:v>
                </c:pt>
                <c:pt idx="4">
                  <c:v>1.58</c:v>
                </c:pt>
                <c:pt idx="5">
                  <c:v>1.31</c:v>
                </c:pt>
                <c:pt idx="6">
                  <c:v>1.34</c:v>
                </c:pt>
              </c:numCache>
            </c:numRef>
          </c:val>
        </c:ser>
        <c:dLbls>
          <c:numFmt formatCode="0.00;;" sourceLinked="0"/>
          <c:txPr>
            <a:bodyPr/>
            <a:lstStyle/>
            <a:p>
              <a:pPr>
                <a:defRPr b="0" i="0" strike="noStrike" sz="1100" u="none">
                  <a:solidFill>
                    <a:srgbClr val="132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2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b"/>
        <c:majorGridlines>
          <c:spPr>
            <a:ln w="9525" cap="flat">
              <a:solidFill>
                <a:srgbClr val="D3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322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87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5872"/>
                </a:solidFill>
                <a:latin typeface="+mn-lt"/>
              </a:rPr>
              <a:t>Top 8 nations, Tokyo 2020 medals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forecast</c:v>
                </c:pt>
              </c:strCache>
            </c:strRef>
          </c:tx>
          <c:spPr>
            <a:solidFill>
              <a:srgbClr val="C89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USA</c:v>
                  </c:pt>
                  <c:pt idx="1">
                    <c:v>China</c:v>
                  </c:pt>
                  <c:pt idx="2">
                    <c:v>Russia</c:v>
                  </c:pt>
                  <c:pt idx="3">
                    <c:v>UK</c:v>
                  </c:pt>
                  <c:pt idx="4">
                    <c:v>Japan</c:v>
                  </c:pt>
                  <c:pt idx="5">
                    <c:v>Australia</c:v>
                  </c:pt>
                  <c:pt idx="6">
                    <c:v>Italy</c:v>
                  </c:pt>
                  <c:pt idx="7">
                    <c:v>Germany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108.1</c:v>
                </c:pt>
                <c:pt idx="1">
                  <c:v>66.8</c:v>
                </c:pt>
                <c:pt idx="2">
                  <c:v>53.2</c:v>
                </c:pt>
                <c:pt idx="3">
                  <c:v>64.4</c:v>
                </c:pt>
                <c:pt idx="4">
                  <c:v>43.7</c:v>
                </c:pt>
                <c:pt idx="5">
                  <c:v>29</c:v>
                </c:pt>
                <c:pt idx="6">
                  <c:v>30</c:v>
                </c:pt>
                <c:pt idx="7">
                  <c:v>41.6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322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USA</c:v>
                  </c:pt>
                  <c:pt idx="1">
                    <c:v>China</c:v>
                  </c:pt>
                  <c:pt idx="2">
                    <c:v>Russia</c:v>
                  </c:pt>
                  <c:pt idx="3">
                    <c:v>UK</c:v>
                  </c:pt>
                  <c:pt idx="4">
                    <c:v>Japan</c:v>
                  </c:pt>
                  <c:pt idx="5">
                    <c:v>Australia</c:v>
                  </c:pt>
                  <c:pt idx="6">
                    <c:v>Italy</c:v>
                  </c:pt>
                  <c:pt idx="7">
                    <c:v>Germany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113</c:v>
                </c:pt>
                <c:pt idx="1">
                  <c:v>95</c:v>
                </c:pt>
                <c:pt idx="2">
                  <c:v>71</c:v>
                </c:pt>
                <c:pt idx="3">
                  <c:v>64</c:v>
                </c:pt>
                <c:pt idx="4">
                  <c:v>58</c:v>
                </c:pt>
                <c:pt idx="5">
                  <c:v>46</c:v>
                </c:pt>
                <c:pt idx="6">
                  <c:v>40</c:v>
                </c:pt>
                <c:pt idx="7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2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3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322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87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5872"/>
                </a:solidFill>
                <a:latin typeface="+mn-lt"/>
              </a:rPr>
              <a:t>Increase in 2016 MAE when shuffled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Previous Sports</c:v>
                  </c:pt>
                  <c:pt idx="1">
                    <c:v>Rolling 3 Medal Avg</c:v>
                  </c:pt>
                  <c:pt idx="2">
                    <c:v>Historical Athlete Growth</c:v>
                  </c:pt>
                  <c:pt idx="3">
                    <c:v>Previous Events</c:v>
                  </c:pt>
                  <c:pt idx="4">
                    <c:v>Previous Athletes</c:v>
                  </c:pt>
                  <c:pt idx="5">
                    <c:v>Medal Efficiency</c:v>
                  </c:pt>
                  <c:pt idx="6">
                    <c:v>Previous Medals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0.012</c:v>
                </c:pt>
                <c:pt idx="1">
                  <c:v>0.013</c:v>
                </c:pt>
                <c:pt idx="2">
                  <c:v>0.029</c:v>
                </c:pt>
                <c:pt idx="3">
                  <c:v>0.033</c:v>
                </c:pt>
                <c:pt idx="4">
                  <c:v>0.115</c:v>
                </c:pt>
                <c:pt idx="5">
                  <c:v>1.326</c:v>
                </c:pt>
                <c:pt idx="6">
                  <c:v>6.483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32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2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3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we forecast Olympic medal counts from earlier Games only, and the key design is to learn each country's momentum (its change from the last Games) instead of the medal count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paper (Dobkowski, Stanford) predicts 2016 medals using socioeconomic data plus last Games' medals. We ask a narrower question: how far can Olympic history alone take us, if we model it properly?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Kaggle dataset by R. Griffin. The raw file has one row per athlete per event, so a relay gold appears four times; we count it once, which matches the official medal tables (USA 121, China 70, UK 67 in 2016).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reproduced the paper's two-stage design as a comparison model, so the panel can see the reference approach and ours on identical data and splits.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for a country at Games t is computed with groupby-shift on that country's earlier appearances. A unit test changes a future result and checks that no past feature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features use log differences so that 1 to 3 medals and 30 to 90 medals read as the same trend. Countries with no history get zeros, which is the neutral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use momentum. The score is the idea in our original plan. The momentum target is what actually works: a Random Forest can only output averages of training targets it has seen, so predicting counts pulls big nations toward the middle. Predicting the change lets one leaf serve a 3-medal and a 90-medal nation on the same trajectory.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Grid: min_samples_leaf in {1,3,5,10} and max_features in {0.6,1.0}, chosen by mean 2012 validation MAE across all eight models. Selected: leaf 10, max_features 0.6, 300 trees. Five random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Held-out Rio 2016, trained on 1964-2012, mean over five seeds. MAE 1.298 vs 1.474 for the same features predicting the count. Adding the momentum score as a feature does not help (1.501).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Games is predicted from all earlier Games only (expanding window). A momentum-target model has the lowest error in all six. On Rio 2016 the paired bootstrap gives a 95% interval of 0.02 to 0.34 fewer medals of error per country, and 99% of resamples favour our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regressor uses history plus World Bank features, is tuned on 2012 (trained 1964-2008), refitted on 1964-2012 and tested once on Rio 2016. Poisson needs a count target so it has no momentum version. 'Paper best' is the paper's own Naive Bayes classifier + Ridge regressor pairing. SVR predicting the count is the exception: it has the best RMSE and top-10 error, but this is one test year. The classifier accuracies match the paper's own table (85.5-89.1%).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stops at 2016, so this is a true out-of-sample test. Tokyo was postponed by COVID and hosted by Japan (58 medals, up from 41). Here the World Bank models do best: the paper's two-stage design has the lowest MAE and the economic models are much better on the top 10. The momentum model lands mid-pack. We report this as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importance: how much the Rio 2016 MAE rises when one feature is shuffled. Last Games' medals dominates, followed by medal efficiency. The scatter shows actual vs predicted medals for Rio 2016; the largest misses are hosts and nations with sudden swings.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negative results: the composite score on its own did not help, and Tokyo 2020 showed no edge. These make the main finding more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one-sentence takeaway: how you frame the target matters more than adding another feature. Then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1) run the quick pipeline (about 30 seconds), 2) open the notebook and walk through features, momentum and the Rio results, 3) open the website and use the country explorer.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2E5A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Team 53  |  Olympic Medal Momentum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Team 53  |  Olympic Medal Momentum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CAD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ne line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Lane line"/>
          <p:cNvSpPr/>
          <p:nvPr/>
        </p:nvSpPr>
        <p:spPr>
          <a:xfrm>
            <a:off x="0" y="4663440"/>
            <a:ext cx="12191695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Lane line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Lane line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Lane line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Olympic Medal Prediction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7D3A6"/>
                </a:solidFill>
              </a:rPr>
              <a:t>Learning each country’s Performance Momentum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F0"/>
                </a:solidFill>
              </a:rPr>
              <a:t>UE24CS352A Machine Learning mini-project, Team 53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Ryona Aditree Ghosh</a:t>
            </a:r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</a:rPr>
              <a:t>   PES1UG24AM233</a:t>
            </a:r>
            <a:endParaRPr lang="en-US" sz="1600" dirty="0"/>
          </a:p>
        </p:txBody>
      </p:sp>
      <p:sp>
        <p:nvSpPr>
          <p:cNvPr id="11" name="Runner"/>
          <p:cNvSpPr/>
          <p:nvPr/>
        </p:nvSpPr>
        <p:spPr>
          <a:xfrm>
            <a:off x="6766560" y="4279392"/>
            <a:ext cx="265176" cy="265176"/>
          </a:xfrm>
          <a:prstGeom prst="ellipse">
            <a:avLst/>
          </a:prstGeom>
          <a:solidFill>
            <a:srgbClr val="C8962E"/>
          </a:solidFill>
          <a:ln w="12700">
            <a:solidFill>
              <a:srgbClr val="1322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Rishit V N S</a:t>
            </a:r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</a:rPr>
              <a:t>   PES1UG24AM225</a:t>
            </a:r>
            <a:endParaRPr lang="en-US" sz="1600" dirty="0"/>
          </a:p>
        </p:txBody>
      </p:sp>
      <p:sp>
        <p:nvSpPr>
          <p:cNvPr id="13" name="Runner"/>
          <p:cNvSpPr/>
          <p:nvPr/>
        </p:nvSpPr>
        <p:spPr>
          <a:xfrm>
            <a:off x="8321040" y="4782312"/>
            <a:ext cx="265176" cy="265176"/>
          </a:xfrm>
          <a:prstGeom prst="ellipse">
            <a:avLst/>
          </a:prstGeom>
          <a:solidFill>
            <a:srgbClr val="C8962E"/>
          </a:solidFill>
          <a:ln w="12700">
            <a:solidFill>
              <a:srgbClr val="1322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PES University,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problem: forecast a country’s medals before the Games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Predict how many medals each country will win at a Summer Olympics, using only information available before those Games.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Last Games’ medal count is already a strong forecast. The real question is whether a country’s trajectory (rising, steady or fading) adds anything beyond it.</a:t>
            </a:r>
            <a:endParaRPr lang="en-US" sz="1600" dirty="0"/>
          </a:p>
        </p:txBody>
      </p:sp>
      <p:sp>
        <p:nvSpPr>
          <p:cNvPr id="5" name="Question card"/>
          <p:cNvSpPr/>
          <p:nvPr/>
        </p:nvSpPr>
        <p:spPr>
          <a:xfrm>
            <a:off x="548640" y="457200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736592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 question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Does explicitly modelling performance momentum improve medal forecasts over a model that predicts the count directly?</a:t>
            </a:r>
            <a:endParaRPr lang="en-US" sz="1600" dirty="0"/>
          </a:p>
        </p:txBody>
      </p:sp>
      <p:sp>
        <p:nvSpPr>
          <p:cNvPr id="7" name="Medal disc"/>
          <p:cNvSpPr/>
          <p:nvPr/>
        </p:nvSpPr>
        <p:spPr>
          <a:xfrm>
            <a:off x="7360920" y="1618488"/>
            <a:ext cx="310896" cy="310896"/>
          </a:xfrm>
          <a:prstGeom prst="ellipse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417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206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countries in Rio 2016</a:t>
            </a:r>
            <a:endParaRPr lang="en-US" sz="1600" dirty="0"/>
          </a:p>
        </p:txBody>
      </p:sp>
      <p:sp>
        <p:nvSpPr>
          <p:cNvPr id="10" name="Medal disc"/>
          <p:cNvSpPr/>
          <p:nvPr/>
        </p:nvSpPr>
        <p:spPr>
          <a:xfrm>
            <a:off x="7360920" y="3172968"/>
            <a:ext cx="310896" cy="310896"/>
          </a:xfrm>
          <a:prstGeom prst="ellipse">
            <a:avLst/>
          </a:prstGeom>
          <a:solidFill>
            <a:srgbClr val="8F99A9"/>
          </a:solidFill>
          <a:ln w="12700">
            <a:solidFill>
              <a:srgbClr val="8F99A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2971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2,770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country-Games rows, 1896–2016</a:t>
            </a:r>
            <a:endParaRPr lang="en-US" sz="1600" dirty="0"/>
          </a:p>
        </p:txBody>
      </p:sp>
      <p:sp>
        <p:nvSpPr>
          <p:cNvPr id="13" name="Medal disc"/>
          <p:cNvSpPr/>
          <p:nvPr/>
        </p:nvSpPr>
        <p:spPr>
          <a:xfrm>
            <a:off x="7360920" y="4727448"/>
            <a:ext cx="310896" cy="310896"/>
          </a:xfrm>
          <a:prstGeom prst="ellipse">
            <a:avLst/>
          </a:prstGeom>
          <a:solidFill>
            <a:srgbClr val="A86A3D"/>
          </a:solidFill>
          <a:ln w="12700">
            <a:solidFill>
              <a:srgbClr val="A86A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4526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0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5276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features from the target Games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Dataset: 120 years of Olympic history</a:t>
            </a:r>
            <a:endParaRPr lang="en-US" sz="34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Kaggle athlete_events.csv (271,116 rows) and noc_regions.csv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Scope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Summer Games only; unofficial 1906 Games removed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Team medals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Counted once per event, matching official medal tables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Countries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NOC codes mapped to regions: FRG/GDR to Germany, URS/EUN to Russia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Unit of analysis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One row per Country × Olympic Year (athletes, sports, events, medals)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Total_Medals won by the country at those Games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World Bank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Six WDI series from the paper (GDP, GDP per capita, growth, population, land area), year before each Games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Extra check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Real Tokyo 2020 medal table, used only to score our 2020 forecast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 paper vs our approach</a:t>
            </a:r>
            <a:endParaRPr lang="en-US" sz="3400" dirty="0"/>
          </a:p>
        </p:txBody>
      </p:sp>
      <p:sp>
        <p:nvSpPr>
          <p:cNvPr id="4" name="Reference paper (Dobkowski) card"/>
          <p:cNvSpPr/>
          <p:nvPr/>
        </p:nvSpPr>
        <p:spPr>
          <a:xfrm>
            <a:off x="548640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DF0F3"/>
          </a:solidFill>
          <a:ln w="12700">
            <a:solidFill>
              <a:srgbClr val="D3DAE3"/>
            </a:solidFill>
            <a:prstDash val="solid"/>
          </a:ln>
        </p:spPr>
      </p:sp>
      <p:sp>
        <p:nvSpPr>
          <p:cNvPr id="5" name="Medal disc"/>
          <p:cNvSpPr/>
          <p:nvPr/>
        </p:nvSpPr>
        <p:spPr>
          <a:xfrm>
            <a:off x="868680" y="1709928"/>
            <a:ext cx="292608" cy="292608"/>
          </a:xfrm>
          <a:prstGeom prst="ellipse">
            <a:avLst/>
          </a:prstGeom>
          <a:solidFill>
            <a:srgbClr val="8F99A9"/>
          </a:solidFill>
          <a:ln w="12700">
            <a:solidFill>
              <a:srgbClr val="8F99A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32588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Reference paper (Dobkowski)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World Bank GDP, population and land area merged with medals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Two-stage model: medal / no-medal classifier, then a regressor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Tuned on 1988–2008, validated on 2012, tested on 2016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Single 2016 test, average-std-dev error metric</a:t>
            </a:r>
            <a:endParaRPr lang="en-US" sz="1700" dirty="0"/>
          </a:p>
        </p:txBody>
      </p:sp>
      <p:sp>
        <p:nvSpPr>
          <p:cNvPr id="8" name="Our project card"/>
          <p:cNvSpPr/>
          <p:nvPr/>
        </p:nvSpPr>
        <p:spPr>
          <a:xfrm>
            <a:off x="6263640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BF6EC"/>
          </a:solidFill>
          <a:ln w="12700">
            <a:solidFill>
              <a:srgbClr val="EBD9B0"/>
            </a:solidFill>
            <a:prstDash val="solid"/>
          </a:ln>
        </p:spPr>
      </p:sp>
      <p:sp>
        <p:nvSpPr>
          <p:cNvPr id="9" name="Medal disc"/>
          <p:cNvSpPr/>
          <p:nvPr/>
        </p:nvSpPr>
        <p:spPr>
          <a:xfrm>
            <a:off x="6583680" y="1709928"/>
            <a:ext cx="292608" cy="292608"/>
          </a:xfrm>
          <a:prstGeom prst="ellipse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Our project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Same World Bank indicators, plus Olympic history, all from before the Games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Same Random Forest for all eight models; the paper's model types re-run too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Proposed: predict momentum (log change) instead of the count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Rio 2016 test, six-Games backtest, bootstrap test, real Tokyo 2020 forecast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Pipeline: every step looks back, never forward</a:t>
            </a:r>
            <a:endParaRPr lang="en-US" sz="3400" dirty="0"/>
          </a:p>
        </p:txBody>
      </p:sp>
      <p:sp>
        <p:nvSpPr>
          <p:cNvPr id="4" name="Step 1"/>
          <p:cNvSpPr/>
          <p:nvPr/>
        </p:nvSpPr>
        <p:spPr>
          <a:xfrm>
            <a:off x="548640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5A88"/>
                </a:solidFill>
              </a:rPr>
              <a:t>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71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Clean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Summer Games, one medal per team event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2798064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26664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5A88"/>
                </a:solidFill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026664" y="2971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Aggregate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026664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One row per Country × Games</a:t>
            </a:r>
            <a:endParaRPr lang="en-US" sz="1500" dirty="0"/>
          </a:p>
        </p:txBody>
      </p:sp>
      <p:sp>
        <p:nvSpPr>
          <p:cNvPr id="12" name="Step 3"/>
          <p:cNvSpPr/>
          <p:nvPr/>
        </p:nvSpPr>
        <p:spPr>
          <a:xfrm>
            <a:off x="5047488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76088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5A88"/>
                </a:solidFill>
              </a:rPr>
              <a:t>3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5276088" y="2971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Lag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5276088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Nine features from earlier Games only</a:t>
            </a:r>
            <a:endParaRPr lang="en-US" sz="1500" dirty="0"/>
          </a:p>
        </p:txBody>
      </p:sp>
      <p:sp>
        <p:nvSpPr>
          <p:cNvPr id="16" name="Step 4"/>
          <p:cNvSpPr/>
          <p:nvPr/>
        </p:nvSpPr>
        <p:spPr>
          <a:xfrm>
            <a:off x="7296912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25512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7D3A6"/>
                </a:solidFill>
              </a:rPr>
              <a:t>4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7525512" y="2971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Learn momentum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525512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5F0"/>
                </a:solidFill>
              </a:rPr>
              <a:t>Forest predicts change in log medals</a:t>
            </a:r>
            <a:endParaRPr lang="en-US" sz="1500" dirty="0"/>
          </a:p>
        </p:txBody>
      </p:sp>
      <p:sp>
        <p:nvSpPr>
          <p:cNvPr id="20" name="Step 5"/>
          <p:cNvSpPr/>
          <p:nvPr/>
        </p:nvSpPr>
        <p:spPr>
          <a:xfrm>
            <a:off x="9546336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74936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5A88"/>
                </a:solidFill>
              </a:rPr>
              <a:t>5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9774936" y="2971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Test on the future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9774936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Tune 2012, test 2016, forecast 2020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Code: src/olympic_momentum/ (data.py, features.py, models.py, experiment.py). One command reproduces everything: python scripts/run_pipeline.py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Nine temporal features, all from earlier Games</a:t>
            </a:r>
            <a:endParaRPr lang="en-US" sz="3400" dirty="0"/>
          </a:p>
        </p:txBody>
      </p:sp>
      <p:graphicFrame>
        <p:nvGraphicFramePr>
          <p:cNvPr id="7" name="Fe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Definition (Games t−1, t−2 are earlier appearances)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2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Previous_Medals / Previous_Gold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Medals and golds at the country’s last Games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Previous_Athletes / Sports / Events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Size and breadth of the last team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Historical_Medal_Growth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log(1+medals t−1) − log(1+medals t−2)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Historical_Athlete_Growth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log(1+athletes t−1) − log(1+athletes t−2)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Rolling_3_Medal_Avg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 medals over the last three Games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0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Medal_Efficiency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Last Games’ medals per athlete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Plus eight World Bank features from the year before: log GDP, log GDP per capita, GDP growth, log population, population growth, log land area, and shares of world GDP and population.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Novelty: Performance Momentum</a:t>
            </a:r>
            <a:endParaRPr lang="en-US" sz="3400" dirty="0"/>
          </a:p>
        </p:txBody>
      </p:sp>
      <p:sp>
        <p:nvSpPr>
          <p:cNvPr id="4" name="Momentum score (feature) card"/>
          <p:cNvSpPr/>
          <p:nvPr/>
        </p:nvSpPr>
        <p:spPr>
          <a:xfrm>
            <a:off x="54864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A2C47"/>
          </a:solidFill>
          <a:ln w="12700">
            <a:solidFill>
              <a:srgbClr val="33496B"/>
            </a:solidFill>
            <a:prstDash val="solid"/>
          </a:ln>
        </p:spPr>
      </p:sp>
      <p:sp>
        <p:nvSpPr>
          <p:cNvPr id="5" name="Medal disc"/>
          <p:cNvSpPr/>
          <p:nvPr/>
        </p:nvSpPr>
        <p:spPr>
          <a:xfrm>
            <a:off x="868680" y="1755648"/>
            <a:ext cx="292608" cy="292608"/>
          </a:xfrm>
          <a:prstGeom prst="ellipse">
            <a:avLst/>
          </a:prstGeom>
          <a:solidFill>
            <a:srgbClr val="8F99A9"/>
          </a:solidFill>
          <a:ln w="12700">
            <a:solidFill>
              <a:srgbClr val="8F99A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32588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Momentum score (feature)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231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5F0"/>
                </a:solidFill>
              </a:rPr>
              <a:t>Mean of the z-scored medal growth, athlete growth and medal efficiency. The scaler is fitted inside the pipeline on training Games only.</a:t>
            </a:r>
            <a:endParaRPr lang="en-US" sz="1700" dirty="0"/>
          </a:p>
        </p:txBody>
      </p:sp>
      <p:sp>
        <p:nvSpPr>
          <p:cNvPr id="8" name="Formula box"/>
          <p:cNvSpPr/>
          <p:nvPr/>
        </p:nvSpPr>
        <p:spPr>
          <a:xfrm>
            <a:off x="868680" y="434340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13223A"/>
          </a:solidFill>
          <a:ln w="12700">
            <a:solidFill>
              <a:srgbClr val="1322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60" y="44348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C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= mean( z(growth_medals), z(growth_athletes), z(efficiency) )</a:t>
            </a:r>
            <a:endParaRPr lang="en-US" sz="1600" dirty="0"/>
          </a:p>
        </p:txBody>
      </p:sp>
      <p:sp>
        <p:nvSpPr>
          <p:cNvPr id="10" name="Momentum target (proposed) card"/>
          <p:cNvSpPr/>
          <p:nvPr/>
        </p:nvSpPr>
        <p:spPr>
          <a:xfrm>
            <a:off x="626364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F3A5F"/>
          </a:solidFill>
          <a:ln w="19050">
            <a:solidFill>
              <a:srgbClr val="C8962E"/>
            </a:solidFill>
            <a:prstDash val="solid"/>
          </a:ln>
        </p:spPr>
      </p:sp>
      <p:sp>
        <p:nvSpPr>
          <p:cNvPr id="11" name="Medal disc"/>
          <p:cNvSpPr/>
          <p:nvPr/>
        </p:nvSpPr>
        <p:spPr>
          <a:xfrm>
            <a:off x="6583680" y="1755648"/>
            <a:ext cx="292608" cy="292608"/>
          </a:xfrm>
          <a:prstGeom prst="ellipse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4088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Momentum target (proposed)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4231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5F0"/>
                </a:solidFill>
              </a:rPr>
              <a:t>The forest learns the change in log medals since the last Games. The forecast adds that change back to last Games’ count.</a:t>
            </a:r>
            <a:endParaRPr lang="en-US" sz="1700" dirty="0"/>
          </a:p>
        </p:txBody>
      </p:sp>
      <p:sp>
        <p:nvSpPr>
          <p:cNvPr id="14" name="Formula box"/>
          <p:cNvSpPr/>
          <p:nvPr/>
        </p:nvSpPr>
        <p:spPr>
          <a:xfrm>
            <a:off x="6583680" y="434340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13223A"/>
          </a:solidFill>
          <a:ln w="12700">
            <a:solidFill>
              <a:srgbClr val="1322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44348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= (1 + medals t−1) × e^(predicted momentum) − 1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CAD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Experimental design: a fair, chronological comparison</a:t>
            </a:r>
            <a:endParaRPr lang="en-US" sz="3400" dirty="0"/>
          </a:p>
        </p:txBody>
      </p:sp>
      <p:sp>
        <p:nvSpPr>
          <p:cNvPr id="4" name="Train span"/>
          <p:cNvSpPr/>
          <p:nvPr/>
        </p:nvSpPr>
        <p:spPr>
          <a:xfrm>
            <a:off x="822960" y="2148840"/>
            <a:ext cx="8262257" cy="457200"/>
          </a:xfrm>
          <a:prstGeom prst="rect">
            <a:avLst/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5" name="Validate block"/>
          <p:cNvSpPr/>
          <p:nvPr/>
        </p:nvSpPr>
        <p:spPr>
          <a:xfrm>
            <a:off x="9543723" y="2148840"/>
            <a:ext cx="585216" cy="457200"/>
          </a:xfrm>
          <a:prstGeom prst="rect">
            <a:avLst/>
          </a:prstGeom>
          <a:solidFill>
            <a:srgbClr val="8F99A9"/>
          </a:solidFill>
          <a:ln w="12700">
            <a:solidFill>
              <a:srgbClr val="8F99A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96251" y="2697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Validate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2012</a:t>
            </a:r>
            <a:endParaRPr lang="en-US" sz="1300" dirty="0"/>
          </a:p>
        </p:txBody>
      </p:sp>
      <p:sp>
        <p:nvSpPr>
          <p:cNvPr id="7" name="Test block"/>
          <p:cNvSpPr/>
          <p:nvPr/>
        </p:nvSpPr>
        <p:spPr>
          <a:xfrm>
            <a:off x="10294838" y="2148840"/>
            <a:ext cx="585216" cy="45720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947366" y="2697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2016</a:t>
            </a:r>
            <a:endParaRPr lang="en-US" sz="1300" dirty="0"/>
          </a:p>
        </p:txBody>
      </p:sp>
      <p:sp>
        <p:nvSpPr>
          <p:cNvPr id="9" name="Forecast block"/>
          <p:cNvSpPr/>
          <p:nvPr/>
        </p:nvSpPr>
        <p:spPr>
          <a:xfrm>
            <a:off x="11045952" y="2148840"/>
            <a:ext cx="585216" cy="457200"/>
          </a:xfrm>
          <a:prstGeom prst="rect">
            <a:avLst/>
          </a:prstGeom>
          <a:solidFill>
            <a:srgbClr val="A86A3D"/>
          </a:solidFill>
          <a:ln w="12700">
            <a:solidFill>
              <a:srgbClr val="A86A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698480" y="2697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Forecast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Train 1964–2008 (then 1964–2012 for the final test)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1964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710543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1976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63886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1988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217229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2000</a:t>
            </a:r>
            <a:endParaRPr lang="en-US" sz="1200" dirty="0"/>
          </a:p>
        </p:txBody>
      </p:sp>
      <p:sp>
        <p:nvSpPr>
          <p:cNvPr id="16" name="Medal disc"/>
          <p:cNvSpPr/>
          <p:nvPr/>
        </p:nvSpPr>
        <p:spPr>
          <a:xfrm>
            <a:off x="548640" y="3794760"/>
            <a:ext cx="256032" cy="256032"/>
          </a:xfrm>
          <a:prstGeom prst="ellipse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730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Eight models, one forest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42062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Count target: Baseline, Historical, + Score, + Economic, Paper Two-Stage. Momentum target: alone, + Score, + Economic</a:t>
            </a:r>
            <a:endParaRPr lang="en-US" sz="1500" dirty="0"/>
          </a:p>
        </p:txBody>
      </p:sp>
      <p:sp>
        <p:nvSpPr>
          <p:cNvPr id="19" name="Medal disc"/>
          <p:cNvSpPr/>
          <p:nvPr/>
        </p:nvSpPr>
        <p:spPr>
          <a:xfrm>
            <a:off x="4297680" y="3794760"/>
            <a:ext cx="256032" cy="256032"/>
          </a:xfrm>
          <a:prstGeom prst="ellipse">
            <a:avLst/>
          </a:prstGeom>
          <a:solidFill>
            <a:srgbClr val="8F99A9"/>
          </a:solidFill>
          <a:ln w="12700">
            <a:solidFill>
              <a:srgbClr val="8F99A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09160" y="3730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Metrics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42062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MAE (main), RMSE, R², and MAE on the top-10 nations (the paper’s second objective)</a:t>
            </a:r>
            <a:endParaRPr lang="en-US" sz="1500" dirty="0"/>
          </a:p>
        </p:txBody>
      </p:sp>
      <p:sp>
        <p:nvSpPr>
          <p:cNvPr id="22" name="Medal disc"/>
          <p:cNvSpPr/>
          <p:nvPr/>
        </p:nvSpPr>
        <p:spPr>
          <a:xfrm>
            <a:off x="8046720" y="3794760"/>
            <a:ext cx="256032" cy="256032"/>
          </a:xfrm>
          <a:prstGeom prst="ellipse">
            <a:avLst/>
          </a:prstGeom>
          <a:solidFill>
            <a:srgbClr val="A86A3D"/>
          </a:solidFill>
          <a:ln w="12700">
            <a:solidFill>
              <a:srgbClr val="A86A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730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Robustness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42062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Rolling-origin backtest on 1996–2016, five seeds, paired bootstrap on 2016 errors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Rio 2016: predicting momentum cuts error by 19%</a:t>
            </a:r>
            <a:endParaRPr lang="en-US" sz="3400" dirty="0"/>
          </a:p>
        </p:txBody>
      </p:sp>
      <p:graphicFrame>
        <p:nvGraphicFramePr>
          <p:cNvPr id="4" name="MAE chart" descr=""/>
          <p:cNvGraphicFramePr/>
          <p:nvPr/>
        </p:nvGraphicFramePr>
        <p:xfrm>
          <a:off x="548640" y="137160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63040"/>
          <a:ext cx="4251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40080"/>
                <a:gridCol w="640080"/>
                <a:gridCol w="685800"/>
                <a:gridCol w="685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Top-10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1.606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3.85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0.913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12.26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Historical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1.474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3.76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0.916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11.91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Hist. + Score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1.501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3.81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0.914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12.26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Hist. + Economic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1.461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3.68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0.920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11.07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Two-Stage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1.442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3.75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0.917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11.34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Momentum Target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1.298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3.37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0.933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10.14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Mom. + Score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1.296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3.39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0.932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10.16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Mom. + Economic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1.307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3.38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0.932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9.83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406640" y="470916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12% lower MAE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than the same nine features predicting the count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12% lower RMSE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than the previous-medals baseline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gain holds in every Games from 1996 to 2016</a:t>
            </a:r>
            <a:endParaRPr lang="en-US" sz="3400" dirty="0"/>
          </a:p>
        </p:txBody>
      </p:sp>
      <p:graphicFrame>
        <p:nvGraphicFramePr>
          <p:cNvPr id="4" name="Backtest chart" descr=""/>
          <p:cNvGraphicFramePr/>
          <p:nvPr/>
        </p:nvGraphicFramePr>
        <p:xfrm>
          <a:off x="548640" y="1371600"/>
          <a:ext cx="72237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38160" y="1463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 of 6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8138160" y="21762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Games where Momentum Target beats Historical Features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2971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0.02 to 0.34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36850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95% bootstrap interval for the MAE drop on Rio 2016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4480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1.374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5193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average backtest MAE, vs 1.599 for Historical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paper’s models, re-run: momentum helps five of six</a:t>
            </a:r>
            <a:endParaRPr lang="en-US" sz="3400" dirty="0"/>
          </a:p>
        </p:txBody>
      </p:sp>
      <p:graphicFrame>
        <p:nvGraphicFramePr>
          <p:cNvPr id="4" name="Model family chart" descr=""/>
          <p:cNvGraphicFramePr/>
          <p:nvPr/>
        </p:nvGraphicFramePr>
        <p:xfrm>
          <a:off x="548640" y="1371600"/>
          <a:ext cx="64008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lassifi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463040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Classifier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Acc. 2012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Acc. 2016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87.8%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SVM (RBF kernel)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87.3%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91.3%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Gaussian Naive Bayes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86.8%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Multilayer Perceptron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86.3%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89.3%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89.2%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91.3%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Rule: medalled last time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87.3%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88.8%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269480" y="4251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Paper’s first stage: will a country win any medal? Every classifier lands within a few points of the simple rule “it medalled last time”.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real forecast: Tokyo 2020, made from data up to 2016</a:t>
            </a:r>
            <a:endParaRPr lang="en-US" sz="3400" dirty="0"/>
          </a:p>
        </p:txBody>
      </p:sp>
      <p:graphicFrame>
        <p:nvGraphicFramePr>
          <p:cNvPr id="13" name="Toky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1.851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3.77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0.929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Historical Features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1.565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3.38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0.943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Historical + Economic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1.538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0.952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Paper Two-Stage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1.506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3.12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0.952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Momentum Target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1.557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3.72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0.931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Momentum Target + Economic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1.596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3.60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0.936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63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On the real future, World Bank data helps: wealth and population carry signal that last Games’ medals miss when a cycle is disrupted. Our momentum edge from 1996–2016 did not carry over.</a:t>
            </a:r>
            <a:endParaRPr lang="en-US" sz="1500" dirty="0"/>
          </a:p>
        </p:txBody>
      </p:sp>
      <p:graphicFrame>
        <p:nvGraphicFramePr>
          <p:cNvPr id="6" name="Tokyo chart" descr=""/>
          <p:cNvGraphicFramePr/>
          <p:nvPr/>
        </p:nvGraphicFramePr>
        <p:xfrm>
          <a:off x="6400800" y="1371600"/>
          <a:ext cx="5303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model relies on</a:t>
            </a:r>
            <a:endParaRPr lang="en-US" sz="3400" dirty="0"/>
          </a:p>
        </p:txBody>
      </p:sp>
      <p:graphicFrame>
        <p:nvGraphicFramePr>
          <p:cNvPr id="4" name="Importance chart" descr=""/>
          <p:cNvGraphicFramePr/>
          <p:nvPr/>
        </p:nvGraphicFramePr>
        <p:xfrm>
          <a:off x="548640" y="1371600"/>
          <a:ext cx="57607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Actual vs predicted medals for Rio 2016, Momentum Target mod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572000" cy="417880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766560" y="5623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Actual vs predicted, Rio 2016 (Momentum Target)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didn’t work, and what’s next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5" name="Medal disc"/>
          <p:cNvSpPr/>
          <p:nvPr/>
        </p:nvSpPr>
        <p:spPr>
          <a:xfrm>
            <a:off x="548640" y="2075688"/>
            <a:ext cx="219456" cy="219456"/>
          </a:xfrm>
          <a:prstGeom prst="ellipse">
            <a:avLst/>
          </a:prstGeom>
          <a:solidFill>
            <a:srgbClr val="A86A3D"/>
          </a:solidFill>
          <a:ln w="12700">
            <a:solidFill>
              <a:srgbClr val="A86A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Momentum score as a feature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9572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 gain: MAE 1.501 vs 1.474. The forest already has its three components.</a:t>
            </a:r>
            <a:endParaRPr lang="en-US" sz="1500" dirty="0"/>
          </a:p>
        </p:txBody>
      </p:sp>
      <p:sp>
        <p:nvSpPr>
          <p:cNvPr id="8" name="Medal disc"/>
          <p:cNvSpPr/>
          <p:nvPr/>
        </p:nvSpPr>
        <p:spPr>
          <a:xfrm>
            <a:off x="548640" y="3401568"/>
            <a:ext cx="219456" cy="219456"/>
          </a:xfrm>
          <a:prstGeom prst="ellipse">
            <a:avLst/>
          </a:prstGeom>
          <a:solidFill>
            <a:srgbClr val="A86A3D"/>
          </a:solidFill>
          <a:ln w="12700">
            <a:solidFill>
              <a:srgbClr val="A86A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Tokyo 2020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216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momentum model falls mid-pack; the paper’s two-stage model with World Bank data wins. Host and COVID effects are not in any feature.</a:t>
            </a:r>
            <a:endParaRPr lang="en-US" sz="1500" dirty="0"/>
          </a:p>
        </p:txBody>
      </p:sp>
      <p:sp>
        <p:nvSpPr>
          <p:cNvPr id="11" name="Medal disc"/>
          <p:cNvSpPr/>
          <p:nvPr/>
        </p:nvSpPr>
        <p:spPr>
          <a:xfrm>
            <a:off x="548640" y="4727448"/>
            <a:ext cx="219456" cy="219456"/>
          </a:xfrm>
          <a:prstGeom prst="ellipse">
            <a:avLst/>
          </a:prstGeom>
          <a:solidFill>
            <a:srgbClr val="A86A3D"/>
          </a:solidFill>
          <a:ln w="12700">
            <a:solidFill>
              <a:srgbClr val="A86A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World Bank gaps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0474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 data for the USSR, East Germany or Taiwan, so 8% of rows lack economic features.</a:t>
            </a:r>
            <a:endParaRPr lang="en-US" sz="1500" dirty="0"/>
          </a:p>
        </p:txBody>
      </p:sp>
      <p:sp>
        <p:nvSpPr>
          <p:cNvPr id="14" name="Future work card"/>
          <p:cNvSpPr/>
          <p:nvPr/>
        </p:nvSpPr>
        <p:spPr>
          <a:xfrm>
            <a:off x="6400800" y="141732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work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 host-nation and next-host flags (known before the Games)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Combine both strengths: momentum target with World Bank data in a tuned SVR or boosting model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Count-aware models: Poisson and Tweedie gradient boosting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Event-level models that predict medals per sport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Medal disc"/>
          <p:cNvSpPr/>
          <p:nvPr/>
        </p:nvSpPr>
        <p:spPr>
          <a:xfrm>
            <a:off x="548640" y="1673352"/>
            <a:ext cx="310896" cy="310896"/>
          </a:xfrm>
          <a:prstGeom prst="ellipse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6002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Predicting momentum instead of the count gives MAE 1.298 on Rio 2016: 19% better than the baseline and 12% better than the same features predicting the count.</a:t>
            </a:r>
            <a:endParaRPr lang="en-US" sz="1900" dirty="0"/>
          </a:p>
        </p:txBody>
      </p:sp>
      <p:sp>
        <p:nvSpPr>
          <p:cNvPr id="5" name="Medal disc"/>
          <p:cNvSpPr/>
          <p:nvPr/>
        </p:nvSpPr>
        <p:spPr>
          <a:xfrm>
            <a:off x="548640" y="3044952"/>
            <a:ext cx="310896" cy="310896"/>
          </a:xfrm>
          <a:prstGeom prst="ellipse">
            <a:avLst/>
          </a:prstGeom>
          <a:solidFill>
            <a:srgbClr val="8F99A9"/>
          </a:solidFill>
          <a:ln w="12700">
            <a:solidFill>
              <a:srgbClr val="8F99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9718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The gain is statistically significant on 2016 and holds in all 6 backtest Games, ahead of the reference paper’s two-stage design.</a:t>
            </a:r>
            <a:endParaRPr lang="en-US" sz="1900" dirty="0"/>
          </a:p>
        </p:txBody>
      </p:sp>
      <p:sp>
        <p:nvSpPr>
          <p:cNvPr id="7" name="Medal disc"/>
          <p:cNvSpPr/>
          <p:nvPr/>
        </p:nvSpPr>
        <p:spPr>
          <a:xfrm>
            <a:off x="548640" y="4416552"/>
            <a:ext cx="310896" cy="310896"/>
          </a:xfrm>
          <a:prstGeom prst="ellipse">
            <a:avLst/>
          </a:prstGeom>
          <a:solidFill>
            <a:srgbClr val="A86A3D"/>
          </a:solidFill>
          <a:ln w="12700">
            <a:solidFill>
              <a:srgbClr val="A86A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43434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Predicting momentum also helps Linear, Ridge, Lasso, Random Forest and the paper’s best Naive Bayes + Ridge model. The momentum score alone adds nothing, and on Tokyo 2020 the paper’s World Bank models win. The contribution is the target design.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CAD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 and repository</a:t>
            </a:r>
            <a:endParaRPr lang="en-US" sz="3400" dirty="0"/>
          </a:p>
        </p:txBody>
      </p:sp>
      <p:sp>
        <p:nvSpPr>
          <p:cNvPr id="4" name="Reproduce card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3223A"/>
          </a:solidFill>
          <a:ln w="12700">
            <a:solidFill>
              <a:srgbClr val="1322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18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7D3A6"/>
                </a:solidFill>
              </a:rPr>
              <a:t>Reproduce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618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scripts/run_pipeline.py --quick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-q</a:t>
            </a:r>
            <a:endParaRPr lang="en-US" sz="1500" dirty="0"/>
          </a:p>
        </p:txBody>
      </p:sp>
      <p:sp>
        <p:nvSpPr>
          <p:cNvPr id="7" name="Notebook card"/>
          <p:cNvSpPr/>
          <p:nvPr/>
        </p:nvSpPr>
        <p:spPr>
          <a:xfrm>
            <a:off x="548640" y="2953512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1546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notebooks/Olympic_Medal_Prediction.ipynb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Step-by-step: data, features, momentum, tuning, Rio test, Tokyo forecast</a:t>
            </a:r>
            <a:endParaRPr lang="en-US" sz="1500" dirty="0"/>
          </a:p>
        </p:txBody>
      </p:sp>
      <p:sp>
        <p:nvSpPr>
          <p:cNvPr id="10" name="Website card"/>
          <p:cNvSpPr/>
          <p:nvPr/>
        </p:nvSpPr>
        <p:spPr>
          <a:xfrm>
            <a:off x="548640" y="4489704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4690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Website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4690872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docs/index.html (open in any browser)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Race view, model comparison, backtest and a country explorer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github.com/ryonahh/ML_MiniProject_53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l Momentum">
  <a:themeElements>
    <a:clrScheme name="Medal Momentum">
      <a:dk1>
        <a:srgbClr val="13223A"/>
      </a:dk1>
      <a:lt1>
        <a:srgbClr val="FFFFFF"/>
      </a:lt1>
      <a:dk2>
        <a:srgbClr val="2E5A88"/>
      </a:dk2>
      <a:lt2>
        <a:srgbClr val="EDF0F3"/>
      </a:lt2>
      <a:accent1>
        <a:srgbClr val="C8962E"/>
      </a:accent1>
      <a:accent2>
        <a:srgbClr val="8F99A9"/>
      </a:accent2>
      <a:accent3>
        <a:srgbClr val="A86A3D"/>
      </a:accent3>
      <a:accent4>
        <a:srgbClr val="2E5A88"/>
      </a:accent4>
      <a:accent5>
        <a:srgbClr val="C4CAD4"/>
      </a:accent5>
      <a:accent6>
        <a:srgbClr val="4A5872"/>
      </a:accent6>
      <a:hlink>
        <a:srgbClr val="2E5A88"/>
      </a:hlink>
      <a:folHlink>
        <a:srgbClr val="4A5872"/>
      </a:folHlink>
    </a:clrScheme>
    <a:fontScheme name="Medal Momentu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Olympic Medal Prediction with Performance Momentum</dc:title>
  <dc:subject>UE24CS352A Machine Learning mini-project, Team 53</dc:subject>
  <dc:creator>Ryona Aditree Ghosh, Rishit V N S</dc:creator>
  <cp:lastModifiedBy>Ryona Aditree Ghosh, Rishit V N S</cp:lastModifiedBy>
  <cp:revision>1</cp:revision>
  <dcterms:created xsi:type="dcterms:W3CDTF">2026-10-11T10:02:47Z</dcterms:created>
  <dcterms:modified xsi:type="dcterms:W3CDTF">2026-10-11T10:02:47Z</dcterms:modified>
</cp:coreProperties>
</file>